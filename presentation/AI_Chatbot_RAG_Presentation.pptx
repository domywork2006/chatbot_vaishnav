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052A56">
              <a:alpha val="60000"/>
            </a:srgbClr>
          </a:solidFill>
          <a:ln w="19050">
            <a:solidFill>
              <a:srgbClr val="003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-822960"/>
            <a:ext cx="4389120" cy="4389120"/>
          </a:xfrm>
          <a:prstGeom prst="ellipse">
            <a:avLst/>
          </a:prstGeom>
          <a:solidFill>
            <a:srgbClr val="051830">
              <a:alpha val="80000"/>
            </a:srgbClr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&amp;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54864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Document Assistant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48640" y="2423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Conversational and Document Retrieval System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2926080"/>
            <a:ext cx="411480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 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/ Team Project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76272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76272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03904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31536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31536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59168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9168" y="3794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36393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65760" y="1051560"/>
            <a:ext cx="4114800" cy="150876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051560"/>
            <a:ext cx="41148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1508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naturally through multi-turn conversations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51560"/>
            <a:ext cx="4114800" cy="150876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51560"/>
            <a:ext cx="41148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 Retrieval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1508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 and extract precise, contextual answers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788920"/>
            <a:ext cx="4114800" cy="150876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788920"/>
            <a:ext cx="41148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246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accurate responses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788920"/>
            <a:ext cx="4114800" cy="150876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788920"/>
            <a:ext cx="41148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3246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document context and conversation history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0560" y="1801368"/>
            <a:ext cx="27432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3538728"/>
            <a:ext cx="27432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65760" y="1097280"/>
            <a:ext cx="4023360" cy="1508760"/>
          </a:xfrm>
          <a:prstGeom prst="rect">
            <a:avLst/>
          </a:prstGeom>
          <a:solidFill>
            <a:srgbClr val="0D0A1A"/>
          </a:solidFill>
          <a:ln w="9525">
            <a:solidFill>
              <a:srgbClr val="3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097280"/>
            <a:ext cx="54864" cy="1508760"/>
          </a:xfrm>
          <a:prstGeom prst="rect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Unmanageable Documents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1600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documents are impossible to search manually at scale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023360" cy="1508760"/>
          </a:xfrm>
          <a:prstGeom prst="rect">
            <a:avLst/>
          </a:prstGeom>
          <a:solidFill>
            <a:srgbClr val="0D0A1A"/>
          </a:solidFill>
          <a:ln w="9525">
            <a:solidFill>
              <a:srgbClr val="3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097280"/>
            <a:ext cx="54864" cy="1508760"/>
          </a:xfrm>
          <a:prstGeom prst="rect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Search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1600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relevant info wastes valuable working hours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880360"/>
            <a:ext cx="4023360" cy="1508760"/>
          </a:xfrm>
          <a:prstGeom prst="rect">
            <a:avLst/>
          </a:prstGeom>
          <a:solidFill>
            <a:srgbClr val="0D0A1A"/>
          </a:solidFill>
          <a:ln w="9525">
            <a:solidFill>
              <a:srgbClr val="3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880360"/>
            <a:ext cx="54864" cy="1508760"/>
          </a:xfrm>
          <a:prstGeom prst="rect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Queries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 answered repeatedly, reducing productivity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880360"/>
            <a:ext cx="4023360" cy="1508760"/>
          </a:xfrm>
          <a:prstGeom prst="rect">
            <a:avLst/>
          </a:prstGeom>
          <a:solidFill>
            <a:srgbClr val="0D0A1A"/>
          </a:solidFill>
          <a:ln w="9525">
            <a:solidFill>
              <a:srgbClr val="3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880360"/>
            <a:ext cx="54864" cy="1508760"/>
          </a:xfrm>
          <a:prstGeom prst="rect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Context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search misses semantic meaning and relationships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274320" y="1188720"/>
            <a:ext cx="150876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188720"/>
            <a:ext cx="1508760" cy="45720"/>
          </a:xfrm>
          <a:prstGeom prst="rect">
            <a:avLst/>
          </a:prstGeom>
          <a:solidFill>
            <a:srgbClr val="1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 Upload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10512" y="1691640"/>
            <a:ext cx="146304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84248" y="1188720"/>
            <a:ext cx="150876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84248" y="1188720"/>
            <a:ext cx="1508760" cy="45720"/>
          </a:xfrm>
          <a:prstGeom prst="rect">
            <a:avLst/>
          </a:prstGeom>
          <a:solidFill>
            <a:srgbClr val="1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84248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84248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Input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20440" y="1691640"/>
            <a:ext cx="146304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94176" y="1188720"/>
            <a:ext cx="150876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94176" y="1188720"/>
            <a:ext cx="1508760" cy="45720"/>
          </a:xfrm>
          <a:prstGeom prst="rect">
            <a:avLst/>
          </a:prstGeom>
          <a:solidFill>
            <a:srgbClr val="1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94176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94176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30368" y="1691640"/>
            <a:ext cx="146304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04104" y="1188720"/>
            <a:ext cx="1508760" cy="10058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04104" y="1188720"/>
            <a:ext cx="1508760" cy="45720"/>
          </a:xfrm>
          <a:prstGeom prst="rect">
            <a:avLst/>
          </a:prstGeom>
          <a:solidFill>
            <a:srgbClr val="1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04104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04104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0296" y="1691640"/>
            <a:ext cx="146304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14032" y="1188720"/>
            <a:ext cx="1508760" cy="1005840"/>
          </a:xfrm>
          <a:prstGeom prst="rect">
            <a:avLst/>
          </a:prstGeom>
          <a:solidFill>
            <a:srgbClr val="0A2A1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4032" y="1188720"/>
            <a:ext cx="150876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14032" y="13533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14032" y="17373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2962656"/>
            <a:ext cx="137160" cy="13716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assistant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3438144"/>
            <a:ext cx="137160" cy="13716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document retrieval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3913632"/>
            <a:ext cx="137160" cy="13716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3877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2962656"/>
            <a:ext cx="137160" cy="13716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support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63440" y="3438144"/>
            <a:ext cx="137160" cy="13716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information access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Basic AI Chatbot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65760" y="1051560"/>
            <a:ext cx="47548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252728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1106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1371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full conversation context across messages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801368"/>
            <a:ext cx="47548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002536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1856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2121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prior context for coherent dialogue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551176"/>
            <a:ext cx="47548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752344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Integration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28712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Blazing-fast inference with Groq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300984"/>
            <a:ext cx="47548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502152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355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36210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streaming answers to user queries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050792"/>
            <a:ext cx="4754880" cy="621792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251960"/>
            <a:ext cx="201168" cy="20116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1056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AI Behavior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43708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system prompts and temperature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1051560"/>
            <a:ext cx="3383280" cy="3566160"/>
          </a:xfrm>
          <a:prstGeom prst="rect">
            <a:avLst/>
          </a:prstGeom>
          <a:solidFill>
            <a:srgbClr val="0307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1051560"/>
            <a:ext cx="338328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32120" y="11155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33288" y="111556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34456" y="1115568"/>
            <a:ext cx="109728" cy="10972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1060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Chatbot Terminal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14630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chatbot.py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0" y="17190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Chatbot Ready! Type 'exit' to quit.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86400" y="197510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86400" y="223113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What is RAG?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86400" y="24871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86400" y="27432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RAG stands for Retrieval-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86400" y="29992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Augmented Generation. It combines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86400" y="32552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with generation to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486400" y="351129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 accurate answers...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486400" y="376732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486400" y="402336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_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RAG AI Document Assistant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5760" y="1170432"/>
            <a:ext cx="182880" cy="18288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0972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Interface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828800"/>
            <a:ext cx="182880" cy="18288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17556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487168"/>
            <a:ext cx="182880" cy="18288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4140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145536"/>
            <a:ext cx="182880" cy="18288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0723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 Tracking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1170432"/>
            <a:ext cx="182880" cy="18288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10972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88920" y="1828800"/>
            <a:ext cx="182880" cy="18288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17556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88920" y="2487168"/>
            <a:ext cx="182880" cy="18288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24140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Retrieval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74920" y="1005840"/>
            <a:ext cx="3703320" cy="3886200"/>
          </a:xfrm>
          <a:prstGeom prst="rect">
            <a:avLst/>
          </a:prstGeom>
          <a:solidFill>
            <a:srgbClr val="040C1C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FF88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1005840"/>
            <a:ext cx="3703320" cy="365760"/>
          </a:xfrm>
          <a:prstGeom prst="rect">
            <a:avLst/>
          </a:prstGeom>
          <a:solidFill>
            <a:srgbClr val="0A1A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10332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streamlit · RAG Assistant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74920" y="1371600"/>
            <a:ext cx="1097280" cy="3520440"/>
          </a:xfrm>
          <a:prstGeom prst="rect">
            <a:avLst/>
          </a:prstGeom>
          <a:solidFill>
            <a:srgbClr val="060F20"/>
          </a:solidFill>
          <a:ln w="6350">
            <a:solidFill>
              <a:srgbClr val="0D1F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2011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66360" y="2286000"/>
            <a:ext cx="914400" cy="320040"/>
          </a:xfrm>
          <a:prstGeom prst="rect">
            <a:avLst/>
          </a:prstGeom>
          <a:solidFill>
            <a:srgbClr val="0D2240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Browse...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6364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Q&amp;A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1874520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0D2240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1920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PDF say about RAG?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63640" y="23774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A2A1A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423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combines retrieval with generation. Source: Page 3, Chunk 2.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63640" y="4480560"/>
            <a:ext cx="2423160" cy="274320"/>
          </a:xfrm>
          <a:prstGeom prst="rect">
            <a:avLst/>
          </a:prstGeom>
          <a:solidFill>
            <a:srgbClr val="060F20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your document...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20040" y="1097280"/>
            <a:ext cx="269748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097280"/>
            <a:ext cx="2697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26187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1261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1554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GENERATION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1901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LLM inference API for real-time answers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1097280"/>
            <a:ext cx="269748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1097280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126187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31920" y="1261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1554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WORKFLOW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37560" y="1901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retrieval chains and LLM pipelines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1097280"/>
            <a:ext cx="269748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1097280"/>
            <a:ext cx="26974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126187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6560" y="1261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15544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72200" y="1901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queries document embeddings efficiently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743200"/>
            <a:ext cx="269748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743200"/>
            <a:ext cx="269748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290779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97280" y="2907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97280" y="3200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" y="35478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text embeddings for document indexing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54680" y="2743200"/>
            <a:ext cx="269748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54680" y="274320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37560" y="290779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931920" y="2907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931920" y="3200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37560" y="35478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web app framework for the AI frontend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89320" y="2743200"/>
            <a:ext cx="269748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89320" y="2743200"/>
            <a:ext cx="2697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290779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766560" y="2907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766560" y="3200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72200" y="35478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powering all system components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65760" y="1005840"/>
            <a:ext cx="38404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005840"/>
            <a:ext cx="3840480" cy="384048"/>
          </a:xfrm>
          <a:prstGeom prst="rect">
            <a:avLst/>
          </a:prstGeom>
          <a:solidFill>
            <a:srgbClr val="0A2A1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1508760"/>
            <a:ext cx="3840480" cy="658368"/>
          </a:xfrm>
          <a:prstGeom prst="rect">
            <a:avLst/>
          </a:prstGeom>
          <a:solidFill>
            <a:srgbClr val="0F050A"/>
          </a:solidFill>
          <a:ln w="6350">
            <a:solidFill>
              <a:srgbClr val="2A10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746504"/>
            <a:ext cx="164592" cy="16459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16733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document retrieval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1837944"/>
            <a:ext cx="73152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7099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1508760"/>
            <a:ext cx="3840480" cy="658368"/>
          </a:xfrm>
          <a:prstGeom prst="rect">
            <a:avLst/>
          </a:prstGeom>
          <a:solidFill>
            <a:srgbClr val="040F0A"/>
          </a:solidFill>
          <a:ln w="6350">
            <a:solidFill>
              <a:srgbClr val="102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1746504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16733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chunking strategy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2304288"/>
            <a:ext cx="3840480" cy="658368"/>
          </a:xfrm>
          <a:prstGeom prst="rect">
            <a:avLst/>
          </a:prstGeom>
          <a:solidFill>
            <a:srgbClr val="0F050A"/>
          </a:solidFill>
          <a:ln w="6350">
            <a:solidFill>
              <a:srgbClr val="2A10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2542032"/>
            <a:ext cx="164592" cy="16459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2468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handling across turns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06240" y="2633472"/>
            <a:ext cx="73152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5054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937760" y="2304288"/>
            <a:ext cx="3840480" cy="658368"/>
          </a:xfrm>
          <a:prstGeom prst="rect">
            <a:avLst/>
          </a:prstGeom>
          <a:solidFill>
            <a:srgbClr val="040F0A"/>
          </a:solidFill>
          <a:ln w="6350">
            <a:solidFill>
              <a:srgbClr val="102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4920" y="2542032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2468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memory buffer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099816"/>
            <a:ext cx="3840480" cy="658368"/>
          </a:xfrm>
          <a:prstGeom prst="rect">
            <a:avLst/>
          </a:prstGeom>
          <a:solidFill>
            <a:srgbClr val="0F050A"/>
          </a:solidFill>
          <a:ln w="6350">
            <a:solidFill>
              <a:srgbClr val="2A10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337560"/>
            <a:ext cx="164592" cy="16459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32644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PDF uploads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206240" y="3429000"/>
            <a:ext cx="73152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33009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937760" y="3099816"/>
            <a:ext cx="3840480" cy="658368"/>
          </a:xfrm>
          <a:prstGeom prst="rect">
            <a:avLst/>
          </a:prstGeom>
          <a:solidFill>
            <a:srgbClr val="040F0A"/>
          </a:solidFill>
          <a:ln w="6350">
            <a:solidFill>
              <a:srgbClr val="102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74920" y="3337560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326440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indexing pipeline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3895344"/>
            <a:ext cx="3840480" cy="658368"/>
          </a:xfrm>
          <a:prstGeom prst="rect">
            <a:avLst/>
          </a:prstGeom>
          <a:solidFill>
            <a:srgbClr val="0F050A"/>
          </a:solidFill>
          <a:ln w="6350">
            <a:solidFill>
              <a:srgbClr val="2A10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4133088"/>
            <a:ext cx="164592" cy="16459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40599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semantic retrieval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06240" y="4224528"/>
            <a:ext cx="73152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409651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937760" y="3895344"/>
            <a:ext cx="3840480" cy="658368"/>
          </a:xfrm>
          <a:prstGeom prst="rect">
            <a:avLst/>
          </a:prstGeom>
          <a:solidFill>
            <a:srgbClr val="040F0A"/>
          </a:solidFill>
          <a:ln w="6350">
            <a:solidFill>
              <a:srgbClr val="102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74920" y="4133088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9240" y="40599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Embedding-based semantic search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65760" y="1051560"/>
            <a:ext cx="4114800" cy="7315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4128" y="1143000"/>
            <a:ext cx="0" cy="548640"/>
          </a:xfrm>
          <a:prstGeom prst="line">
            <a:avLst/>
          </a:prstGeom>
          <a:noFill/>
          <a:ln w="9525">
            <a:solidFill>
              <a:srgbClr val="1E3F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Backend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core chatbot backend logic and conversation handling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1929384"/>
            <a:ext cx="4114800" cy="7315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24128" y="2020824"/>
            <a:ext cx="0" cy="548640"/>
          </a:xfrm>
          <a:prstGeom prst="line">
            <a:avLst/>
          </a:prstGeom>
          <a:noFill/>
          <a:ln w="9525">
            <a:solidFill>
              <a:srgbClr val="1E3F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2267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Groq LLM API for high-speed inference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4114800" cy="7315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24128" y="2898648"/>
            <a:ext cx="0" cy="548640"/>
          </a:xfrm>
          <a:prstGeom prst="line">
            <a:avLst/>
          </a:prstGeom>
          <a:noFill/>
          <a:ln w="9525">
            <a:solidFill>
              <a:srgbClr val="1E3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2871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31455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full Retrieval-Augmented Generation pipeline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685032"/>
            <a:ext cx="4114800" cy="7315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24128" y="3776472"/>
            <a:ext cx="0" cy="548640"/>
          </a:xfrm>
          <a:prstGeom prst="line">
            <a:avLst/>
          </a:prstGeom>
          <a:noFill/>
          <a:ln w="9525">
            <a:solidFill>
              <a:srgbClr val="1E3F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" y="4023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responsive and interactive web UI with Streamlit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1051560"/>
            <a:ext cx="4114800" cy="7315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13248" y="1143000"/>
            <a:ext cx="0" cy="548640"/>
          </a:xfrm>
          <a:prstGeom prst="line">
            <a:avLst/>
          </a:prstGeom>
          <a:noFill/>
          <a:ln w="9525">
            <a:solidFill>
              <a:srgbClr val="1E3F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System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real-time PDF upload and indexing capability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1929384"/>
            <a:ext cx="4114800" cy="7315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413248" y="2020824"/>
            <a:ext cx="0" cy="548640"/>
          </a:xfrm>
          <a:prstGeom prst="line">
            <a:avLst/>
          </a:prstGeom>
          <a:noFill/>
          <a:ln w="9525">
            <a:solidFill>
              <a:srgbClr val="1E3F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Tracking &amp; Memory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32120" y="22677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chunk-level source tracking and memory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807208"/>
            <a:ext cx="4114800" cy="731520"/>
          </a:xfrm>
          <a:prstGeom prst="rect">
            <a:avLst/>
          </a:prstGeom>
          <a:solidFill>
            <a:srgbClr val="0D1F3C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413248" y="2898648"/>
            <a:ext cx="0" cy="548640"/>
          </a:xfrm>
          <a:prstGeom prst="line">
            <a:avLst/>
          </a:prstGeom>
          <a:noFill/>
          <a:ln w="9525">
            <a:solidFill>
              <a:srgbClr val="1E3F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2871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Futuristic UI Design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32120" y="31455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dark AI-themed user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0D22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"/>
            <a:ext cx="54864" cy="530352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20040" y="1097280"/>
            <a:ext cx="265176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097280"/>
            <a:ext cx="54864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280160"/>
            <a:ext cx="438912" cy="438912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280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17830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semantic + lexical search for better 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1097280"/>
            <a:ext cx="265176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1097280"/>
            <a:ext cx="54864" cy="1463040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1280160"/>
            <a:ext cx="438912" cy="438912"/>
          </a:xfrm>
          <a:prstGeom prst="ellipse">
            <a:avLst/>
          </a:prstGeom>
          <a:solidFill>
            <a:srgbClr val="0A162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1280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04488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Caching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17830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caching layer to reduce response latency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1097280"/>
            <a:ext cx="265176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097280"/>
            <a:ext cx="54864" cy="1463040"/>
          </a:xfrm>
          <a:prstGeom prst="rect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280160"/>
            <a:ext cx="438912" cy="438912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280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39128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17830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streaming for real-time AI output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743200"/>
            <a:ext cx="265176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743200"/>
            <a:ext cx="54864" cy="1463040"/>
          </a:xfrm>
          <a:prstGeom prst="rect">
            <a:avLst/>
          </a:prstGeom>
          <a:solidFill>
            <a:srgbClr val="FACC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2926080"/>
            <a:ext cx="438912" cy="438912"/>
          </a:xfrm>
          <a:prstGeom prst="ellipse">
            <a:avLst/>
          </a:prstGeom>
          <a:solidFill>
            <a:srgbClr val="0A1628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926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69848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Support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34290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interface for voice queries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154680" y="2743200"/>
            <a:ext cx="265176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4680" y="2743200"/>
            <a:ext cx="54864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37560" y="2926080"/>
            <a:ext cx="438912" cy="438912"/>
          </a:xfrm>
          <a:prstGeom prst="ellipse">
            <a:avLst/>
          </a:prstGeom>
          <a:solidFill>
            <a:srgbClr val="0A1628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2926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904488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91840" y="34290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 / GCP with auto-scaling support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0" y="2743200"/>
            <a:ext cx="2651760" cy="1463040"/>
          </a:xfrm>
          <a:prstGeom prst="rect">
            <a:avLst/>
          </a:prstGeom>
          <a:solidFill>
            <a:srgbClr val="0D1F3C"/>
          </a:solidFill>
          <a:ln w="9525">
            <a:solidFill>
              <a:srgbClr val="1E3F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2743200"/>
            <a:ext cx="54864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2926080"/>
            <a:ext cx="438912" cy="438912"/>
          </a:xfrm>
          <a:prstGeom prst="ellipse">
            <a:avLst/>
          </a:prstGeom>
          <a:solidFill>
            <a:srgbClr val="0A16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926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39128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Reranking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26480" y="34290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 for more precise results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82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47548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9525">
            <a:solidFill>
              <a:srgbClr val="0A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21A0A">
              <a:alpha val="70000"/>
            </a:srgbClr>
          </a:solidFill>
          <a:ln w="1905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097280"/>
            <a:ext cx="2377440" cy="2377440"/>
          </a:xfrm>
          <a:prstGeom prst="ellipse">
            <a:avLst/>
          </a:prstGeom>
          <a:solidFill>
            <a:srgbClr val="03120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 R  ·  AI Chatbot &amp; RAG Document Assistant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14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40280" y="41148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4114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41148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4114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0680" y="41148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4114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41148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D224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4114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Chatbot &amp; RAG Document Assistant</dc:title>
  <dc:subject>PptxGenJS Presentation</dc:subject>
  <dc:creator>Vaishnav R</dc:creator>
  <cp:lastModifiedBy>Vaishnav R</cp:lastModifiedBy>
  <cp:revision>1</cp:revision>
  <dcterms:created xsi:type="dcterms:W3CDTF">2026-05-28T04:44:30Z</dcterms:created>
  <dcterms:modified xsi:type="dcterms:W3CDTF">2026-05-28T04:44:30Z</dcterms:modified>
</cp:coreProperties>
</file>
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9525" y="2047875"/>
            <a:ext cx="18307050" cy="19050"/>
            <a:chOff x="0" y="0"/>
            <a:chExt cx="24409400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-9525" y="4105275"/>
            <a:ext cx="18307050" cy="19050"/>
            <a:chOff x="0" y="0"/>
            <a:chExt cx="244094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-9525" y="6162675"/>
            <a:ext cx="18307050" cy="19050"/>
            <a:chOff x="0" y="0"/>
            <a:chExt cx="244094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-9525" y="8220075"/>
            <a:ext cx="18307050" cy="19050"/>
            <a:chOff x="0" y="0"/>
            <a:chExt cx="244094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276475" y="-9525"/>
            <a:ext cx="19050" cy="10306050"/>
            <a:chOff x="0" y="0"/>
            <a:chExt cx="25400" cy="1374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562475" y="-9525"/>
            <a:ext cx="19050" cy="10306050"/>
            <a:chOff x="0" y="0"/>
            <a:chExt cx="25400" cy="1374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48475" y="-9525"/>
            <a:ext cx="19050" cy="10306050"/>
            <a:chOff x="0" y="0"/>
            <a:chExt cx="25400" cy="13741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34475" y="-9525"/>
            <a:ext cx="19050" cy="10306050"/>
            <a:chOff x="0" y="0"/>
            <a:chExt cx="25400" cy="13741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420475" y="-9525"/>
            <a:ext cx="19050" cy="10306050"/>
            <a:chOff x="0" y="0"/>
            <a:chExt cx="25400" cy="13741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706475" y="-9525"/>
            <a:ext cx="19050" cy="10306050"/>
            <a:chOff x="0" y="0"/>
            <a:chExt cx="25400" cy="13741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992475" y="-9525"/>
            <a:ext cx="19050" cy="10306050"/>
            <a:chOff x="0" y="0"/>
            <a:chExt cx="25400" cy="13741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319510" y="-2762250"/>
            <a:ext cx="11010900" cy="11010900"/>
            <a:chOff x="0" y="0"/>
            <a:chExt cx="14681200" cy="14681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81200" cy="14681200"/>
            </a:xfrm>
            <a:custGeom>
              <a:avLst/>
              <a:gdLst/>
              <a:ahLst/>
              <a:cxnLst/>
              <a:rect r="r" b="b" t="t" l="l"/>
              <a:pathLst>
                <a:path h="14681200" w="14681200">
                  <a:moveTo>
                    <a:pt x="0" y="7340600"/>
                  </a:moveTo>
                  <a:cubicBezTo>
                    <a:pt x="0" y="3286506"/>
                    <a:pt x="3286506" y="0"/>
                    <a:pt x="7340600" y="0"/>
                  </a:cubicBezTo>
                  <a:cubicBezTo>
                    <a:pt x="11394694" y="0"/>
                    <a:pt x="14681200" y="3286506"/>
                    <a:pt x="14681200" y="7340600"/>
                  </a:cubicBezTo>
                  <a:cubicBezTo>
                    <a:pt x="14681200" y="11394694"/>
                    <a:pt x="11394694" y="14681200"/>
                    <a:pt x="7340600" y="14681200"/>
                  </a:cubicBezTo>
                  <a:cubicBezTo>
                    <a:pt x="3286506" y="14681200"/>
                    <a:pt x="0" y="11394694"/>
                    <a:pt x="0" y="7340600"/>
                  </a:cubicBezTo>
                  <a:close/>
                </a:path>
              </a:pathLst>
            </a:custGeom>
            <a:solidFill>
              <a:srgbClr val="052A56">
                <a:alpha val="35686"/>
              </a:srgbClr>
            </a:solidFill>
            <a:ln w="38100" cap="sq">
              <a:solidFill>
                <a:srgbClr val="003A7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423143" y="-1658617"/>
            <a:ext cx="8803643" cy="8803643"/>
            <a:chOff x="0" y="0"/>
            <a:chExt cx="11738191" cy="117381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738229" cy="11738229"/>
            </a:xfrm>
            <a:custGeom>
              <a:avLst/>
              <a:gdLst/>
              <a:ahLst/>
              <a:cxnLst/>
              <a:rect r="r" b="b" t="t" l="l"/>
              <a:pathLst>
                <a:path h="11738229" w="11738229">
                  <a:moveTo>
                    <a:pt x="0" y="5869051"/>
                  </a:moveTo>
                  <a:cubicBezTo>
                    <a:pt x="0" y="2627630"/>
                    <a:pt x="2627630" y="0"/>
                    <a:pt x="5869051" y="0"/>
                  </a:cubicBezTo>
                  <a:cubicBezTo>
                    <a:pt x="9110473" y="0"/>
                    <a:pt x="11738229" y="2627630"/>
                    <a:pt x="11738229" y="5869051"/>
                  </a:cubicBezTo>
                  <a:cubicBezTo>
                    <a:pt x="11738229" y="9110473"/>
                    <a:pt x="9110472" y="11738229"/>
                    <a:pt x="5869051" y="11738229"/>
                  </a:cubicBezTo>
                  <a:cubicBezTo>
                    <a:pt x="2627630" y="11738229"/>
                    <a:pt x="0" y="9110472"/>
                    <a:pt x="0" y="5869051"/>
                  </a:cubicBezTo>
                  <a:close/>
                </a:path>
              </a:pathLst>
            </a:custGeom>
            <a:solidFill>
              <a:srgbClr val="051830">
                <a:alpha val="63922"/>
              </a:srgbClr>
            </a:solidFill>
            <a:ln w="254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97280" y="1463040"/>
            <a:ext cx="16459200" cy="1645920"/>
            <a:chOff x="0" y="0"/>
            <a:chExt cx="21945600" cy="2194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b="true" sz="88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Chatbot &amp;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7280" y="3017520"/>
            <a:ext cx="16459200" cy="1645920"/>
            <a:chOff x="0" y="0"/>
            <a:chExt cx="21945600" cy="2194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71450"/>
              <a:ext cx="21945600" cy="236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b="true" sz="8800" spc="399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Document Assistant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97280" y="4846320"/>
            <a:ext cx="13716000" cy="822960"/>
            <a:chOff x="0" y="0"/>
            <a:chExt cx="1828800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8288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Conversational and Document Retrieval System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78230" y="5833110"/>
            <a:ext cx="8267700" cy="38100"/>
            <a:chOff x="0" y="0"/>
            <a:chExt cx="11023600" cy="50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23600" cy="50800"/>
            </a:xfrm>
            <a:custGeom>
              <a:avLst/>
              <a:gdLst/>
              <a:ahLst/>
              <a:cxnLst/>
              <a:rect r="r" b="b" t="t" l="l"/>
              <a:pathLst>
                <a:path h="50800" w="11023600">
                  <a:moveTo>
                    <a:pt x="0" y="0"/>
                  </a:moveTo>
                  <a:lnTo>
                    <a:pt x="110236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4178253" r="0" b="-4178253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6217920"/>
            <a:ext cx="5120640" cy="457200"/>
            <a:chOff x="0" y="0"/>
            <a:chExt cx="682752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609600"/>
            </a:xfrm>
            <a:custGeom>
              <a:avLst/>
              <a:gdLst/>
              <a:ahLst/>
              <a:cxnLst/>
              <a:rect r="r" b="b" t="t" l="l"/>
              <a:pathLst>
                <a:path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4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6675120"/>
            <a:ext cx="5120640" cy="548640"/>
            <a:chOff x="0" y="0"/>
            <a:chExt cx="68275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827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Vaishnav 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83680" y="6217920"/>
            <a:ext cx="5120640" cy="457200"/>
            <a:chOff x="0" y="0"/>
            <a:chExt cx="682752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609600"/>
            </a:xfrm>
            <a:custGeom>
              <a:avLst/>
              <a:gdLst/>
              <a:ahLst/>
              <a:cxnLst/>
              <a:rect r="r" b="b" t="t" l="l"/>
              <a:pathLst>
                <a:path h="6096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8275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4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83680" y="6675120"/>
            <a:ext cx="5120640" cy="548640"/>
            <a:chOff x="0" y="0"/>
            <a:chExt cx="68275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827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Internship Project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87755" y="7579995"/>
            <a:ext cx="2945130" cy="713994"/>
            <a:chOff x="0" y="0"/>
            <a:chExt cx="3926840" cy="9519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26840" cy="951992"/>
            </a:xfrm>
            <a:custGeom>
              <a:avLst/>
              <a:gdLst/>
              <a:ahLst/>
              <a:cxnLst/>
              <a:rect r="r" b="b" t="t" l="l"/>
              <a:pathLst>
                <a:path h="951992" w="3926840">
                  <a:moveTo>
                    <a:pt x="0" y="200406"/>
                  </a:moveTo>
                  <a:cubicBezTo>
                    <a:pt x="0" y="89789"/>
                    <a:pt x="89789" y="0"/>
                    <a:pt x="200406" y="0"/>
                  </a:cubicBezTo>
                  <a:lnTo>
                    <a:pt x="3726434" y="0"/>
                  </a:lnTo>
                  <a:cubicBezTo>
                    <a:pt x="3837178" y="0"/>
                    <a:pt x="3926840" y="89789"/>
                    <a:pt x="3926840" y="200406"/>
                  </a:cubicBezTo>
                  <a:lnTo>
                    <a:pt x="3926840" y="751586"/>
                  </a:lnTo>
                  <a:cubicBezTo>
                    <a:pt x="3926840" y="862330"/>
                    <a:pt x="3837051" y="951992"/>
                    <a:pt x="3726434" y="951992"/>
                  </a:cubicBezTo>
                  <a:lnTo>
                    <a:pt x="200406" y="951992"/>
                  </a:lnTo>
                  <a:cubicBezTo>
                    <a:pt x="89789" y="951992"/>
                    <a:pt x="0" y="862203"/>
                    <a:pt x="0" y="751586"/>
                  </a:cubicBezTo>
                  <a:close/>
                </a:path>
              </a:pathLst>
            </a:custGeom>
            <a:solidFill>
              <a:srgbClr val="0D2240"/>
            </a:solidFill>
            <a:ln w="1905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26414" y="7599045"/>
            <a:ext cx="2926080" cy="694944"/>
            <a:chOff x="0" y="0"/>
            <a:chExt cx="390144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Groq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343019" y="7579995"/>
            <a:ext cx="2945130" cy="713994"/>
            <a:chOff x="0" y="0"/>
            <a:chExt cx="3926840" cy="9519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926840" cy="951992"/>
            </a:xfrm>
            <a:custGeom>
              <a:avLst/>
              <a:gdLst/>
              <a:ahLst/>
              <a:cxnLst/>
              <a:rect r="r" b="b" t="t" l="l"/>
              <a:pathLst>
                <a:path h="951992" w="3926840">
                  <a:moveTo>
                    <a:pt x="0" y="200406"/>
                  </a:moveTo>
                  <a:cubicBezTo>
                    <a:pt x="0" y="89789"/>
                    <a:pt x="89789" y="0"/>
                    <a:pt x="200406" y="0"/>
                  </a:cubicBezTo>
                  <a:lnTo>
                    <a:pt x="3726434" y="0"/>
                  </a:lnTo>
                  <a:cubicBezTo>
                    <a:pt x="3837178" y="0"/>
                    <a:pt x="3926840" y="89789"/>
                    <a:pt x="3926840" y="200406"/>
                  </a:cubicBezTo>
                  <a:lnTo>
                    <a:pt x="3926840" y="751586"/>
                  </a:lnTo>
                  <a:cubicBezTo>
                    <a:pt x="3926840" y="862330"/>
                    <a:pt x="3837051" y="951992"/>
                    <a:pt x="3726434" y="951992"/>
                  </a:cubicBezTo>
                  <a:lnTo>
                    <a:pt x="200406" y="951992"/>
                  </a:lnTo>
                  <a:cubicBezTo>
                    <a:pt x="89789" y="951992"/>
                    <a:pt x="0" y="862203"/>
                    <a:pt x="0" y="751586"/>
                  </a:cubicBezTo>
                  <a:close/>
                </a:path>
              </a:pathLst>
            </a:custGeom>
            <a:solidFill>
              <a:srgbClr val="0D2240"/>
            </a:solidFill>
            <a:ln w="1905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4352544" y="7589520"/>
            <a:ext cx="2926080" cy="694944"/>
            <a:chOff x="0" y="0"/>
            <a:chExt cx="3901440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LangChain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598283" y="7579995"/>
            <a:ext cx="2945130" cy="713994"/>
            <a:chOff x="0" y="0"/>
            <a:chExt cx="3926840" cy="9519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26840" cy="951992"/>
            </a:xfrm>
            <a:custGeom>
              <a:avLst/>
              <a:gdLst/>
              <a:ahLst/>
              <a:cxnLst/>
              <a:rect r="r" b="b" t="t" l="l"/>
              <a:pathLst>
                <a:path h="951992" w="3926840">
                  <a:moveTo>
                    <a:pt x="0" y="200406"/>
                  </a:moveTo>
                  <a:cubicBezTo>
                    <a:pt x="0" y="89789"/>
                    <a:pt x="89789" y="0"/>
                    <a:pt x="200406" y="0"/>
                  </a:cubicBezTo>
                  <a:lnTo>
                    <a:pt x="3726434" y="0"/>
                  </a:lnTo>
                  <a:cubicBezTo>
                    <a:pt x="3837178" y="0"/>
                    <a:pt x="3926840" y="89789"/>
                    <a:pt x="3926840" y="200406"/>
                  </a:cubicBezTo>
                  <a:lnTo>
                    <a:pt x="3926840" y="751586"/>
                  </a:lnTo>
                  <a:cubicBezTo>
                    <a:pt x="3926840" y="862330"/>
                    <a:pt x="3837051" y="951992"/>
                    <a:pt x="3726434" y="951992"/>
                  </a:cubicBezTo>
                  <a:lnTo>
                    <a:pt x="200406" y="951992"/>
                  </a:lnTo>
                  <a:cubicBezTo>
                    <a:pt x="89789" y="951992"/>
                    <a:pt x="0" y="862203"/>
                    <a:pt x="0" y="751586"/>
                  </a:cubicBezTo>
                  <a:close/>
                </a:path>
              </a:pathLst>
            </a:custGeom>
            <a:solidFill>
              <a:srgbClr val="0D2240"/>
            </a:solidFill>
            <a:ln w="1905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7607808" y="7589520"/>
            <a:ext cx="2926080" cy="694944"/>
            <a:chOff x="0" y="0"/>
            <a:chExt cx="390144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853547" y="7579995"/>
            <a:ext cx="2945130" cy="713994"/>
            <a:chOff x="0" y="0"/>
            <a:chExt cx="3926840" cy="9519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926840" cy="951992"/>
            </a:xfrm>
            <a:custGeom>
              <a:avLst/>
              <a:gdLst/>
              <a:ahLst/>
              <a:cxnLst/>
              <a:rect r="r" b="b" t="t" l="l"/>
              <a:pathLst>
                <a:path h="951992" w="3926840">
                  <a:moveTo>
                    <a:pt x="0" y="200406"/>
                  </a:moveTo>
                  <a:cubicBezTo>
                    <a:pt x="0" y="89789"/>
                    <a:pt x="89789" y="0"/>
                    <a:pt x="200406" y="0"/>
                  </a:cubicBezTo>
                  <a:lnTo>
                    <a:pt x="3726434" y="0"/>
                  </a:lnTo>
                  <a:cubicBezTo>
                    <a:pt x="3837178" y="0"/>
                    <a:pt x="3926840" y="89789"/>
                    <a:pt x="3926840" y="200406"/>
                  </a:cubicBezTo>
                  <a:lnTo>
                    <a:pt x="3926840" y="751586"/>
                  </a:lnTo>
                  <a:cubicBezTo>
                    <a:pt x="3926840" y="862330"/>
                    <a:pt x="3837051" y="951992"/>
                    <a:pt x="3726434" y="951992"/>
                  </a:cubicBezTo>
                  <a:lnTo>
                    <a:pt x="200406" y="951992"/>
                  </a:lnTo>
                  <a:cubicBezTo>
                    <a:pt x="89789" y="951992"/>
                    <a:pt x="0" y="862203"/>
                    <a:pt x="0" y="751586"/>
                  </a:cubicBezTo>
                  <a:close/>
                </a:path>
              </a:pathLst>
            </a:custGeom>
            <a:solidFill>
              <a:srgbClr val="0D2240"/>
            </a:solidFill>
            <a:ln w="1905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863072" y="7589520"/>
            <a:ext cx="2926080" cy="694944"/>
            <a:chOff x="0" y="0"/>
            <a:chExt cx="3901440" cy="9265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108811" y="7579995"/>
            <a:ext cx="2945130" cy="713994"/>
            <a:chOff x="0" y="0"/>
            <a:chExt cx="3926840" cy="9519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926840" cy="951992"/>
            </a:xfrm>
            <a:custGeom>
              <a:avLst/>
              <a:gdLst/>
              <a:ahLst/>
              <a:cxnLst/>
              <a:rect r="r" b="b" t="t" l="l"/>
              <a:pathLst>
                <a:path h="951992" w="3926840">
                  <a:moveTo>
                    <a:pt x="0" y="200406"/>
                  </a:moveTo>
                  <a:cubicBezTo>
                    <a:pt x="0" y="89789"/>
                    <a:pt x="89789" y="0"/>
                    <a:pt x="200406" y="0"/>
                  </a:cubicBezTo>
                  <a:lnTo>
                    <a:pt x="3726434" y="0"/>
                  </a:lnTo>
                  <a:cubicBezTo>
                    <a:pt x="3837178" y="0"/>
                    <a:pt x="3926840" y="89789"/>
                    <a:pt x="3926840" y="200406"/>
                  </a:cubicBezTo>
                  <a:lnTo>
                    <a:pt x="3926840" y="751586"/>
                  </a:lnTo>
                  <a:cubicBezTo>
                    <a:pt x="3926840" y="862330"/>
                    <a:pt x="3837051" y="951992"/>
                    <a:pt x="3726434" y="951992"/>
                  </a:cubicBezTo>
                  <a:lnTo>
                    <a:pt x="200406" y="951992"/>
                  </a:lnTo>
                  <a:cubicBezTo>
                    <a:pt x="89789" y="951992"/>
                    <a:pt x="0" y="862203"/>
                    <a:pt x="0" y="751586"/>
                  </a:cubicBezTo>
                  <a:close/>
                </a:path>
              </a:pathLst>
            </a:custGeom>
            <a:solidFill>
              <a:srgbClr val="0D2240"/>
            </a:solidFill>
            <a:ln w="1905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4118336" y="7589520"/>
            <a:ext cx="2926080" cy="694944"/>
            <a:chOff x="0" y="0"/>
            <a:chExt cx="3901440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HuggingFace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97280" y="7278624"/>
            <a:ext cx="16459200" cy="365760"/>
            <a:chOff x="0" y="0"/>
            <a:chExt cx="21945600" cy="4876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219456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6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TECHNOLOGIES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1995" y="2093595"/>
            <a:ext cx="8248650" cy="3036570"/>
            <a:chOff x="0" y="0"/>
            <a:chExt cx="10998200" cy="4048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18823" y="2090423"/>
            <a:ext cx="8255003" cy="116843"/>
            <a:chOff x="0" y="0"/>
            <a:chExt cx="11006671" cy="1557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06709" cy="155829"/>
            </a:xfrm>
            <a:custGeom>
              <a:avLst/>
              <a:gdLst/>
              <a:ahLst/>
              <a:cxnLst/>
              <a:rect r="r" b="b" t="t" l="l"/>
              <a:pathLst>
                <a:path h="15582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" y="2377440"/>
            <a:ext cx="7498080" cy="640080"/>
            <a:chOff x="0" y="0"/>
            <a:chExt cx="999744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Conversational AI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" y="3017520"/>
            <a:ext cx="7498080" cy="1645920"/>
            <a:chOff x="0" y="0"/>
            <a:chExt cx="9997440" cy="21945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 questions naturally through multi-turn conversations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00235" y="2093595"/>
            <a:ext cx="8248650" cy="3036570"/>
            <a:chOff x="0" y="0"/>
            <a:chExt cx="10998200" cy="4048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497063" y="2090423"/>
            <a:ext cx="8255003" cy="116843"/>
            <a:chOff x="0" y="0"/>
            <a:chExt cx="11006671" cy="1557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06709" cy="155829"/>
            </a:xfrm>
            <a:custGeom>
              <a:avLst/>
              <a:gdLst/>
              <a:ahLst/>
              <a:cxnLst/>
              <a:rect r="r" b="b" t="t" l="l"/>
              <a:pathLst>
                <a:path h="15582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875520" y="2377440"/>
            <a:ext cx="7498080" cy="640080"/>
            <a:chOff x="0" y="0"/>
            <a:chExt cx="999744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Document Retrieval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75520" y="3017520"/>
            <a:ext cx="7498080" cy="1645920"/>
            <a:chOff x="0" y="0"/>
            <a:chExt cx="9997440" cy="2194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 PDFs and extract precise, contextual answers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21995" y="5568315"/>
            <a:ext cx="8248650" cy="3036570"/>
            <a:chOff x="0" y="0"/>
            <a:chExt cx="10998200" cy="4048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18823" y="5565143"/>
            <a:ext cx="8255003" cy="116843"/>
            <a:chOff x="0" y="0"/>
            <a:chExt cx="11006671" cy="1557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06709" cy="155829"/>
            </a:xfrm>
            <a:custGeom>
              <a:avLst/>
              <a:gdLst/>
              <a:ahLst/>
              <a:cxnLst/>
              <a:rect r="r" b="b" t="t" l="l"/>
              <a:pathLst>
                <a:path h="15582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97280" y="5852160"/>
            <a:ext cx="7498080" cy="640080"/>
            <a:chOff x="0" y="0"/>
            <a:chExt cx="999744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Architecture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97280" y="6492240"/>
            <a:ext cx="7498080" cy="1645920"/>
            <a:chOff x="0" y="0"/>
            <a:chExt cx="999744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Retrieval-Augmented Generation for accurate responses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00235" y="5568315"/>
            <a:ext cx="8248650" cy="3036570"/>
            <a:chOff x="0" y="0"/>
            <a:chExt cx="10998200" cy="40487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982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998200">
                  <a:moveTo>
                    <a:pt x="0" y="0"/>
                  </a:moveTo>
                  <a:lnTo>
                    <a:pt x="10998200" y="0"/>
                  </a:lnTo>
                  <a:lnTo>
                    <a:pt x="1099820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497063" y="5565143"/>
            <a:ext cx="8255003" cy="116843"/>
            <a:chOff x="0" y="0"/>
            <a:chExt cx="11006671" cy="15579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06709" cy="155829"/>
            </a:xfrm>
            <a:custGeom>
              <a:avLst/>
              <a:gdLst/>
              <a:ahLst/>
              <a:cxnLst/>
              <a:rect r="r" b="b" t="t" l="l"/>
              <a:pathLst>
                <a:path h="155829" w="11006709">
                  <a:moveTo>
                    <a:pt x="0" y="0"/>
                  </a:moveTo>
                  <a:lnTo>
                    <a:pt x="11006709" y="0"/>
                  </a:lnTo>
                  <a:lnTo>
                    <a:pt x="1100670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875520" y="5852160"/>
            <a:ext cx="7498080" cy="640080"/>
            <a:chOff x="0" y="0"/>
            <a:chExt cx="999744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Context-Aware Responses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875520" y="6492240"/>
            <a:ext cx="7498080" cy="1645920"/>
            <a:chOff x="0" y="0"/>
            <a:chExt cx="9997440" cy="21945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997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0" b="-387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9974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Understands document context and conversation history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942070" y="3583686"/>
            <a:ext cx="586740" cy="38100"/>
            <a:chOff x="0" y="0"/>
            <a:chExt cx="782320" cy="50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2320" cy="50800"/>
            </a:xfrm>
            <a:custGeom>
              <a:avLst/>
              <a:gdLst/>
              <a:ahLst/>
              <a:cxnLst/>
              <a:rect r="r" b="b" t="t" l="l"/>
              <a:pathLst>
                <a:path h="50800" w="782320">
                  <a:moveTo>
                    <a:pt x="0" y="0"/>
                  </a:moveTo>
                  <a:lnTo>
                    <a:pt x="7823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50069" r="0" b="-250069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8942070" y="7058406"/>
            <a:ext cx="586740" cy="38100"/>
            <a:chOff x="0" y="0"/>
            <a:chExt cx="782320" cy="50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82320" cy="50800"/>
            </a:xfrm>
            <a:custGeom>
              <a:avLst/>
              <a:gdLst/>
              <a:ahLst/>
              <a:cxnLst/>
              <a:rect r="r" b="b" t="t" l="l"/>
              <a:pathLst>
                <a:path h="50800" w="782320">
                  <a:moveTo>
                    <a:pt x="0" y="0"/>
                  </a:moveTo>
                  <a:lnTo>
                    <a:pt x="7823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50069" r="0" b="-250069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Problem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1995" y="2185035"/>
            <a:ext cx="8065770" cy="3036570"/>
            <a:chOff x="0" y="0"/>
            <a:chExt cx="10754360" cy="4048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0A1A"/>
            </a:solidFill>
            <a:ln w="19050" cap="sq">
              <a:solidFill>
                <a:srgbClr val="3A1A1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18823" y="2181863"/>
            <a:ext cx="135131" cy="3042923"/>
            <a:chOff x="0" y="0"/>
            <a:chExt cx="180175" cy="40572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213" cy="4057269"/>
            </a:xfrm>
            <a:custGeom>
              <a:avLst/>
              <a:gdLst/>
              <a:ahLst/>
              <a:cxnLst/>
              <a:rect r="r" b="b" t="t" l="l"/>
              <a:pathLst>
                <a:path h="405726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4057269"/>
                  </a:lnTo>
                  <a:lnTo>
                    <a:pt x="0" y="4057269"/>
                  </a:ln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" y="2468880"/>
            <a:ext cx="7315200" cy="640080"/>
            <a:chOff x="0" y="0"/>
            <a:chExt cx="975360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Unmanageable Documents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" y="3200400"/>
            <a:ext cx="7315200" cy="1645920"/>
            <a:chOff x="0" y="0"/>
            <a:chExt cx="9753600" cy="21945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753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documents are impossible to search manually at scale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00235" y="2185035"/>
            <a:ext cx="8065770" cy="3036570"/>
            <a:chOff x="0" y="0"/>
            <a:chExt cx="10754360" cy="4048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0A1A"/>
            </a:solidFill>
            <a:ln w="19050" cap="sq">
              <a:solidFill>
                <a:srgbClr val="3A1A1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497063" y="2181863"/>
            <a:ext cx="135131" cy="3042923"/>
            <a:chOff x="0" y="0"/>
            <a:chExt cx="180175" cy="4057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0213" cy="4057269"/>
            </a:xfrm>
            <a:custGeom>
              <a:avLst/>
              <a:gdLst/>
              <a:ahLst/>
              <a:cxnLst/>
              <a:rect r="r" b="b" t="t" l="l"/>
              <a:pathLst>
                <a:path h="405726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4057269"/>
                  </a:lnTo>
                  <a:lnTo>
                    <a:pt x="0" y="4057269"/>
                  </a:ln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875520" y="2468880"/>
            <a:ext cx="7315200" cy="640080"/>
            <a:chOff x="0" y="0"/>
            <a:chExt cx="975360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Time-Consuming Search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75520" y="3200400"/>
            <a:ext cx="7315200" cy="1645920"/>
            <a:chOff x="0" y="0"/>
            <a:chExt cx="9753600" cy="2194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75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753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Finding relevant info wastes valuable working hours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21995" y="5751195"/>
            <a:ext cx="8065770" cy="3036570"/>
            <a:chOff x="0" y="0"/>
            <a:chExt cx="10754360" cy="40487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0A1A"/>
            </a:solidFill>
            <a:ln w="19050" cap="sq">
              <a:solidFill>
                <a:srgbClr val="3A1A1A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18823" y="5748023"/>
            <a:ext cx="135131" cy="3042923"/>
            <a:chOff x="0" y="0"/>
            <a:chExt cx="180175" cy="40572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0213" cy="4057269"/>
            </a:xfrm>
            <a:custGeom>
              <a:avLst/>
              <a:gdLst/>
              <a:ahLst/>
              <a:cxnLst/>
              <a:rect r="r" b="b" t="t" l="l"/>
              <a:pathLst>
                <a:path h="405726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4057269"/>
                  </a:lnTo>
                  <a:lnTo>
                    <a:pt x="0" y="4057269"/>
                  </a:ln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97280" y="6035040"/>
            <a:ext cx="7315200" cy="640080"/>
            <a:chOff x="0" y="0"/>
            <a:chExt cx="975360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Repetitive Queries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97280" y="6766560"/>
            <a:ext cx="7315200" cy="1645920"/>
            <a:chOff x="0" y="0"/>
            <a:chExt cx="975360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5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753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questions answered repeatedly, reducing productivity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00235" y="5751195"/>
            <a:ext cx="8065770" cy="3036570"/>
            <a:chOff x="0" y="0"/>
            <a:chExt cx="10754360" cy="40487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54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0D0A1A"/>
            </a:solidFill>
            <a:ln w="19050" cap="sq">
              <a:solidFill>
                <a:srgbClr val="3A1A1A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497063" y="5748023"/>
            <a:ext cx="135131" cy="3042923"/>
            <a:chOff x="0" y="0"/>
            <a:chExt cx="180175" cy="40572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213" cy="4057269"/>
            </a:xfrm>
            <a:custGeom>
              <a:avLst/>
              <a:gdLst/>
              <a:ahLst/>
              <a:cxnLst/>
              <a:rect r="r" b="b" t="t" l="l"/>
              <a:pathLst>
                <a:path h="405726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4057269"/>
                  </a:lnTo>
                  <a:lnTo>
                    <a:pt x="0" y="4057269"/>
                  </a:ln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875520" y="6035040"/>
            <a:ext cx="7315200" cy="640080"/>
            <a:chOff x="0" y="0"/>
            <a:chExt cx="975360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Lack of Context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875520" y="6766560"/>
            <a:ext cx="7315200" cy="1645920"/>
            <a:chOff x="0" y="0"/>
            <a:chExt cx="9753600" cy="21945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53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7536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search misses semantic meaning and relationships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39115" y="2367915"/>
            <a:ext cx="3036570" cy="2030730"/>
            <a:chOff x="0" y="0"/>
            <a:chExt cx="4048760" cy="2707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8760" cy="2707640"/>
            </a:xfrm>
            <a:custGeom>
              <a:avLst/>
              <a:gdLst/>
              <a:ahLst/>
              <a:cxnLst/>
              <a:rect r="r" b="b" t="t" l="l"/>
              <a:pathLst>
                <a:path h="270764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35943" y="2364743"/>
            <a:ext cx="3042923" cy="116843"/>
            <a:chOff x="0" y="0"/>
            <a:chExt cx="4057231" cy="1557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57269" cy="155829"/>
            </a:xfrm>
            <a:custGeom>
              <a:avLst/>
              <a:gdLst/>
              <a:ahLst/>
              <a:cxnLst/>
              <a:rect r="r" b="b" t="t" l="l"/>
              <a:pathLst>
                <a:path h="155829" w="4057269">
                  <a:moveTo>
                    <a:pt x="0" y="0"/>
                  </a:moveTo>
                  <a:lnTo>
                    <a:pt x="4057269" y="0"/>
                  </a:lnTo>
                  <a:lnTo>
                    <a:pt x="405726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48640" y="2706624"/>
            <a:ext cx="3017520" cy="694944"/>
            <a:chOff x="0" y="0"/>
            <a:chExt cx="402336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023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8640" y="3474720"/>
            <a:ext cx="3017520" cy="640080"/>
            <a:chOff x="0" y="0"/>
            <a:chExt cx="402336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853440"/>
            </a:xfrm>
            <a:custGeom>
              <a:avLst/>
              <a:gdLst/>
              <a:ahLst/>
              <a:cxnLst/>
              <a:rect r="r" b="b" t="t" l="l"/>
              <a:pathLst>
                <a:path h="853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023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Query / Upload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601974" y="3364230"/>
            <a:ext cx="330708" cy="38100"/>
            <a:chOff x="0" y="0"/>
            <a:chExt cx="440944" cy="50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0944" cy="50800"/>
            </a:xfrm>
            <a:custGeom>
              <a:avLst/>
              <a:gdLst/>
              <a:ahLst/>
              <a:cxnLst/>
              <a:rect r="r" b="b" t="t" l="l"/>
              <a:pathLst>
                <a:path h="50800" w="440944">
                  <a:moveTo>
                    <a:pt x="0" y="0"/>
                  </a:moveTo>
                  <a:lnTo>
                    <a:pt x="440944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19130" r="0" b="-11913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958971" y="2367915"/>
            <a:ext cx="3036570" cy="2030730"/>
            <a:chOff x="0" y="0"/>
            <a:chExt cx="4048760" cy="2707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48760" cy="2707640"/>
            </a:xfrm>
            <a:custGeom>
              <a:avLst/>
              <a:gdLst/>
              <a:ahLst/>
              <a:cxnLst/>
              <a:rect r="r" b="b" t="t" l="l"/>
              <a:pathLst>
                <a:path h="270764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3955799" y="2364743"/>
            <a:ext cx="3042923" cy="116843"/>
            <a:chOff x="0" y="0"/>
            <a:chExt cx="4057231" cy="1557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57269" cy="155829"/>
            </a:xfrm>
            <a:custGeom>
              <a:avLst/>
              <a:gdLst/>
              <a:ahLst/>
              <a:cxnLst/>
              <a:rect r="r" b="b" t="t" l="l"/>
              <a:pathLst>
                <a:path h="155829" w="4057269">
                  <a:moveTo>
                    <a:pt x="0" y="0"/>
                  </a:moveTo>
                  <a:lnTo>
                    <a:pt x="4057269" y="0"/>
                  </a:lnTo>
                  <a:lnTo>
                    <a:pt x="405726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3968496" y="2706624"/>
            <a:ext cx="3017520" cy="694944"/>
            <a:chOff x="0" y="0"/>
            <a:chExt cx="4023360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023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Upload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968496" y="3474720"/>
            <a:ext cx="3017520" cy="640080"/>
            <a:chOff x="0" y="0"/>
            <a:chExt cx="402336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0" cy="853440"/>
            </a:xfrm>
            <a:custGeom>
              <a:avLst/>
              <a:gdLst/>
              <a:ahLst/>
              <a:cxnLst/>
              <a:rect r="r" b="b" t="t" l="l"/>
              <a:pathLst>
                <a:path h="853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023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 Input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021830" y="3364230"/>
            <a:ext cx="330708" cy="38100"/>
            <a:chOff x="0" y="0"/>
            <a:chExt cx="440944" cy="50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0944" cy="50800"/>
            </a:xfrm>
            <a:custGeom>
              <a:avLst/>
              <a:gdLst/>
              <a:ahLst/>
              <a:cxnLst/>
              <a:rect r="r" b="b" t="t" l="l"/>
              <a:pathLst>
                <a:path h="50800" w="440944">
                  <a:moveTo>
                    <a:pt x="0" y="0"/>
                  </a:moveTo>
                  <a:lnTo>
                    <a:pt x="440944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19130" r="0" b="-11913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378827" y="2367915"/>
            <a:ext cx="3036570" cy="2030730"/>
            <a:chOff x="0" y="0"/>
            <a:chExt cx="4048760" cy="2707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48760" cy="2707640"/>
            </a:xfrm>
            <a:custGeom>
              <a:avLst/>
              <a:gdLst/>
              <a:ahLst/>
              <a:cxnLst/>
              <a:rect r="r" b="b" t="t" l="l"/>
              <a:pathLst>
                <a:path h="270764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375655" y="2364743"/>
            <a:ext cx="3042923" cy="116843"/>
            <a:chOff x="0" y="0"/>
            <a:chExt cx="4057231" cy="1557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57269" cy="155829"/>
            </a:xfrm>
            <a:custGeom>
              <a:avLst/>
              <a:gdLst/>
              <a:ahLst/>
              <a:cxnLst/>
              <a:rect r="r" b="b" t="t" l="l"/>
              <a:pathLst>
                <a:path h="155829" w="4057269">
                  <a:moveTo>
                    <a:pt x="0" y="0"/>
                  </a:moveTo>
                  <a:lnTo>
                    <a:pt x="4057269" y="0"/>
                  </a:lnTo>
                  <a:lnTo>
                    <a:pt x="405726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7388352" y="2706624"/>
            <a:ext cx="3017520" cy="694944"/>
            <a:chOff x="0" y="0"/>
            <a:chExt cx="402336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023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388352" y="3474720"/>
            <a:ext cx="3017520" cy="640080"/>
            <a:chOff x="0" y="0"/>
            <a:chExt cx="402336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23360" cy="853440"/>
            </a:xfrm>
            <a:custGeom>
              <a:avLst/>
              <a:gdLst/>
              <a:ahLst/>
              <a:cxnLst/>
              <a:rect r="r" b="b" t="t" l="l"/>
              <a:pathLst>
                <a:path h="853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023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HuggingFace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441686" y="3364230"/>
            <a:ext cx="330708" cy="38100"/>
            <a:chOff x="0" y="0"/>
            <a:chExt cx="440944" cy="50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0944" cy="50800"/>
            </a:xfrm>
            <a:custGeom>
              <a:avLst/>
              <a:gdLst/>
              <a:ahLst/>
              <a:cxnLst/>
              <a:rect r="r" b="b" t="t" l="l"/>
              <a:pathLst>
                <a:path h="50800" w="440944">
                  <a:moveTo>
                    <a:pt x="0" y="0"/>
                  </a:moveTo>
                  <a:lnTo>
                    <a:pt x="440944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19130" r="0" b="-11913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0798683" y="2367915"/>
            <a:ext cx="3036570" cy="2030730"/>
            <a:chOff x="0" y="0"/>
            <a:chExt cx="4048760" cy="2707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048760" cy="2707640"/>
            </a:xfrm>
            <a:custGeom>
              <a:avLst/>
              <a:gdLst/>
              <a:ahLst/>
              <a:cxnLst/>
              <a:rect r="r" b="b" t="t" l="l"/>
              <a:pathLst>
                <a:path h="270764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0795511" y="2364743"/>
            <a:ext cx="3042923" cy="116843"/>
            <a:chOff x="0" y="0"/>
            <a:chExt cx="4057231" cy="1557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057269" cy="155829"/>
            </a:xfrm>
            <a:custGeom>
              <a:avLst/>
              <a:gdLst/>
              <a:ahLst/>
              <a:cxnLst/>
              <a:rect r="r" b="b" t="t" l="l"/>
              <a:pathLst>
                <a:path h="155829" w="4057269">
                  <a:moveTo>
                    <a:pt x="0" y="0"/>
                  </a:moveTo>
                  <a:lnTo>
                    <a:pt x="4057269" y="0"/>
                  </a:lnTo>
                  <a:lnTo>
                    <a:pt x="405726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1A3A6B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0808208" y="2706624"/>
            <a:ext cx="3017520" cy="694944"/>
            <a:chOff x="0" y="0"/>
            <a:chExt cx="402336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023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08208" y="3474720"/>
            <a:ext cx="3017520" cy="640080"/>
            <a:chOff x="0" y="0"/>
            <a:chExt cx="402336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23360" cy="853440"/>
            </a:xfrm>
            <a:custGeom>
              <a:avLst/>
              <a:gdLst/>
              <a:ahLst/>
              <a:cxnLst/>
              <a:rect r="r" b="b" t="t" l="l"/>
              <a:pathLst>
                <a:path h="853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023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Vector Store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861542" y="3364230"/>
            <a:ext cx="330708" cy="38100"/>
            <a:chOff x="0" y="0"/>
            <a:chExt cx="440944" cy="50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0944" cy="50800"/>
            </a:xfrm>
            <a:custGeom>
              <a:avLst/>
              <a:gdLst/>
              <a:ahLst/>
              <a:cxnLst/>
              <a:rect r="r" b="b" t="t" l="l"/>
              <a:pathLst>
                <a:path h="50800" w="440944">
                  <a:moveTo>
                    <a:pt x="0" y="0"/>
                  </a:moveTo>
                  <a:lnTo>
                    <a:pt x="440944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19130" r="0" b="-11913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209014" y="2358390"/>
            <a:ext cx="3055620" cy="2049780"/>
            <a:chOff x="0" y="0"/>
            <a:chExt cx="4074160" cy="27330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074160" cy="2733040"/>
            </a:xfrm>
            <a:custGeom>
              <a:avLst/>
              <a:gdLst/>
              <a:ahLst/>
              <a:cxnLst/>
              <a:rect r="r" b="b" t="t" l="l"/>
              <a:pathLst>
                <a:path h="2733040" w="4074160">
                  <a:moveTo>
                    <a:pt x="0" y="0"/>
                  </a:moveTo>
                  <a:lnTo>
                    <a:pt x="4074160" y="0"/>
                  </a:lnTo>
                  <a:lnTo>
                    <a:pt x="4074160" y="2733040"/>
                  </a:lnTo>
                  <a:lnTo>
                    <a:pt x="0" y="2733040"/>
                  </a:lnTo>
                  <a:close/>
                </a:path>
              </a:pathLst>
            </a:custGeom>
            <a:solidFill>
              <a:srgbClr val="0A2A1A"/>
            </a:solid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4215367" y="2364743"/>
            <a:ext cx="3042923" cy="116843"/>
            <a:chOff x="0" y="0"/>
            <a:chExt cx="4057231" cy="15579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57269" cy="155829"/>
            </a:xfrm>
            <a:custGeom>
              <a:avLst/>
              <a:gdLst/>
              <a:ahLst/>
              <a:cxnLst/>
              <a:rect r="r" b="b" t="t" l="l"/>
              <a:pathLst>
                <a:path h="155829" w="4057269">
                  <a:moveTo>
                    <a:pt x="0" y="0"/>
                  </a:moveTo>
                  <a:lnTo>
                    <a:pt x="4057269" y="0"/>
                  </a:lnTo>
                  <a:lnTo>
                    <a:pt x="4057269" y="155829"/>
                  </a:lnTo>
                  <a:lnTo>
                    <a:pt x="0" y="155829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4228064" y="2706624"/>
            <a:ext cx="3017520" cy="694944"/>
            <a:chOff x="0" y="0"/>
            <a:chExt cx="402336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023360" cy="926592"/>
            </a:xfrm>
            <a:custGeom>
              <a:avLst/>
              <a:gdLst/>
              <a:ahLst/>
              <a:cxnLst/>
              <a:rect r="r" b="b" t="t" l="l"/>
              <a:pathLst>
                <a:path h="92659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06" r="0" b="-3460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0233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Response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228064" y="3474720"/>
            <a:ext cx="3017520" cy="640080"/>
            <a:chOff x="0" y="0"/>
            <a:chExt cx="4023360" cy="8534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0" cy="853440"/>
            </a:xfrm>
            <a:custGeom>
              <a:avLst/>
              <a:gdLst/>
              <a:ahLst/>
              <a:cxnLst/>
              <a:rect r="r" b="b" t="t" l="l"/>
              <a:pathLst>
                <a:path h="8534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0233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9BB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 LLM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14400" y="5029200"/>
            <a:ext cx="16459200" cy="640080"/>
            <a:chOff x="0" y="0"/>
            <a:chExt cx="2194560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Benefits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01703" y="5912615"/>
            <a:ext cx="299723" cy="299723"/>
            <a:chOff x="0" y="0"/>
            <a:chExt cx="399631" cy="3996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71600" y="5852160"/>
            <a:ext cx="7680960" cy="640080"/>
            <a:chOff x="0" y="0"/>
            <a:chExt cx="10241280" cy="853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Conversational AI assistant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01703" y="6863591"/>
            <a:ext cx="299723" cy="299723"/>
            <a:chOff x="0" y="0"/>
            <a:chExt cx="399631" cy="39963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71600" y="6803136"/>
            <a:ext cx="7680960" cy="640080"/>
            <a:chOff x="0" y="0"/>
            <a:chExt cx="10241280" cy="8534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Semantic document retrieval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01703" y="7814567"/>
            <a:ext cx="299723" cy="299723"/>
            <a:chOff x="0" y="0"/>
            <a:chExt cx="399631" cy="39963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71600" y="7754112"/>
            <a:ext cx="7680960" cy="640080"/>
            <a:chOff x="0" y="0"/>
            <a:chExt cx="10241280" cy="8534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Context-aware responses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14183" y="5912615"/>
            <a:ext cx="299723" cy="299723"/>
            <a:chOff x="0" y="0"/>
            <a:chExt cx="399631" cy="3996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9784080" y="5852160"/>
            <a:ext cx="7680960" cy="640080"/>
            <a:chOff x="0" y="0"/>
            <a:chExt cx="10241280" cy="8534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Multi-document support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314183" y="6863591"/>
            <a:ext cx="299723" cy="299723"/>
            <a:chOff x="0" y="0"/>
            <a:chExt cx="399631" cy="39963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9784080" y="6803136"/>
            <a:ext cx="7680960" cy="640080"/>
            <a:chOff x="0" y="0"/>
            <a:chExt cx="10241280" cy="853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Faster information access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1 — Basic AI Chatbot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5167" y="2096767"/>
            <a:ext cx="9522457" cy="1256281"/>
            <a:chOff x="0" y="0"/>
            <a:chExt cx="12696609" cy="16750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96571" cy="1675003"/>
            </a:xfrm>
            <a:custGeom>
              <a:avLst/>
              <a:gdLst/>
              <a:ahLst/>
              <a:cxnLst/>
              <a:rect r="r" b="b" t="t" l="l"/>
              <a:pathLst>
                <a:path h="1675003" w="12696571">
                  <a:moveTo>
                    <a:pt x="0" y="0"/>
                  </a:moveTo>
                  <a:lnTo>
                    <a:pt x="12696571" y="0"/>
                  </a:lnTo>
                  <a:lnTo>
                    <a:pt x="1269657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93143" y="2492759"/>
            <a:ext cx="427739" cy="427739"/>
            <a:chOff x="0" y="0"/>
            <a:chExt cx="570319" cy="5703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0357" cy="570357"/>
            </a:xfrm>
            <a:custGeom>
              <a:avLst/>
              <a:gdLst/>
              <a:ahLst/>
              <a:cxnLst/>
              <a:rect r="r" b="b" t="t" l="l"/>
              <a:pathLst>
                <a:path h="570357" w="570357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cubicBezTo>
                    <a:pt x="442595" y="0"/>
                    <a:pt x="570357" y="127635"/>
                    <a:pt x="570357" y="285115"/>
                  </a:cubicBezTo>
                  <a:cubicBezTo>
                    <a:pt x="570357" y="442595"/>
                    <a:pt x="442595" y="570357"/>
                    <a:pt x="285115" y="570357"/>
                  </a:cubicBez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" y="2212848"/>
            <a:ext cx="8229600" cy="548640"/>
            <a:chOff x="0" y="0"/>
            <a:chExt cx="109728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Multi-Turn Conversations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45920" y="2743200"/>
            <a:ext cx="8229600" cy="512064"/>
            <a:chOff x="0" y="0"/>
            <a:chExt cx="109728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Maintains full conversation context across messages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25167" y="3596383"/>
            <a:ext cx="9522457" cy="1256281"/>
            <a:chOff x="0" y="0"/>
            <a:chExt cx="12696609" cy="16750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696571" cy="1675003"/>
            </a:xfrm>
            <a:custGeom>
              <a:avLst/>
              <a:gdLst/>
              <a:ahLst/>
              <a:cxnLst/>
              <a:rect r="r" b="b" t="t" l="l"/>
              <a:pathLst>
                <a:path h="1675003" w="12696571">
                  <a:moveTo>
                    <a:pt x="0" y="0"/>
                  </a:moveTo>
                  <a:lnTo>
                    <a:pt x="12696571" y="0"/>
                  </a:lnTo>
                  <a:lnTo>
                    <a:pt x="1269657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93143" y="3992375"/>
            <a:ext cx="427739" cy="427739"/>
            <a:chOff x="0" y="0"/>
            <a:chExt cx="570319" cy="5703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0357" cy="570357"/>
            </a:xfrm>
            <a:custGeom>
              <a:avLst/>
              <a:gdLst/>
              <a:ahLst/>
              <a:cxnLst/>
              <a:rect r="r" b="b" t="t" l="l"/>
              <a:pathLst>
                <a:path h="570357" w="570357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cubicBezTo>
                    <a:pt x="442595" y="0"/>
                    <a:pt x="570357" y="127635"/>
                    <a:pt x="570357" y="285115"/>
                  </a:cubicBezTo>
                  <a:cubicBezTo>
                    <a:pt x="570357" y="442595"/>
                    <a:pt x="442595" y="570357"/>
                    <a:pt x="285115" y="570357"/>
                  </a:cubicBez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645920" y="3712464"/>
            <a:ext cx="8229600" cy="548640"/>
            <a:chOff x="0" y="0"/>
            <a:chExt cx="1097280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Conversation Memory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45920" y="4242816"/>
            <a:ext cx="8229600" cy="512064"/>
            <a:chOff x="0" y="0"/>
            <a:chExt cx="10972800" cy="6827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Remembers prior context for coherent dialogue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25167" y="5095999"/>
            <a:ext cx="9522457" cy="1256281"/>
            <a:chOff x="0" y="0"/>
            <a:chExt cx="12696609" cy="167504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696571" cy="1675003"/>
            </a:xfrm>
            <a:custGeom>
              <a:avLst/>
              <a:gdLst/>
              <a:ahLst/>
              <a:cxnLst/>
              <a:rect r="r" b="b" t="t" l="l"/>
              <a:pathLst>
                <a:path h="1675003" w="12696571">
                  <a:moveTo>
                    <a:pt x="0" y="0"/>
                  </a:moveTo>
                  <a:lnTo>
                    <a:pt x="12696571" y="0"/>
                  </a:lnTo>
                  <a:lnTo>
                    <a:pt x="1269657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93143" y="5491991"/>
            <a:ext cx="427739" cy="427739"/>
            <a:chOff x="0" y="0"/>
            <a:chExt cx="570319" cy="5703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0357" cy="570357"/>
            </a:xfrm>
            <a:custGeom>
              <a:avLst/>
              <a:gdLst/>
              <a:ahLst/>
              <a:cxnLst/>
              <a:rect r="r" b="b" t="t" l="l"/>
              <a:pathLst>
                <a:path h="570357" w="570357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cubicBezTo>
                    <a:pt x="442595" y="0"/>
                    <a:pt x="570357" y="127635"/>
                    <a:pt x="570357" y="285115"/>
                  </a:cubicBezTo>
                  <a:cubicBezTo>
                    <a:pt x="570357" y="442595"/>
                    <a:pt x="442595" y="570357"/>
                    <a:pt x="285115" y="570357"/>
                  </a:cubicBez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645920" y="5212080"/>
            <a:ext cx="8229600" cy="548640"/>
            <a:chOff x="0" y="0"/>
            <a:chExt cx="109728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Groq LLM Integration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45920" y="5742432"/>
            <a:ext cx="8229600" cy="512064"/>
            <a:chOff x="0" y="0"/>
            <a:chExt cx="1097280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Blazing-fast inference with Groq API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25167" y="6595615"/>
            <a:ext cx="9522457" cy="1256281"/>
            <a:chOff x="0" y="0"/>
            <a:chExt cx="12696609" cy="167504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696571" cy="1675003"/>
            </a:xfrm>
            <a:custGeom>
              <a:avLst/>
              <a:gdLst/>
              <a:ahLst/>
              <a:cxnLst/>
              <a:rect r="r" b="b" t="t" l="l"/>
              <a:pathLst>
                <a:path h="1675003" w="12696571">
                  <a:moveTo>
                    <a:pt x="0" y="0"/>
                  </a:moveTo>
                  <a:lnTo>
                    <a:pt x="12696571" y="0"/>
                  </a:lnTo>
                  <a:lnTo>
                    <a:pt x="1269657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93143" y="6991607"/>
            <a:ext cx="427739" cy="427739"/>
            <a:chOff x="0" y="0"/>
            <a:chExt cx="570319" cy="57031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0357" cy="570357"/>
            </a:xfrm>
            <a:custGeom>
              <a:avLst/>
              <a:gdLst/>
              <a:ahLst/>
              <a:cxnLst/>
              <a:rect r="r" b="b" t="t" l="l"/>
              <a:pathLst>
                <a:path h="570357" w="570357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cubicBezTo>
                    <a:pt x="442595" y="0"/>
                    <a:pt x="570357" y="127635"/>
                    <a:pt x="570357" y="285115"/>
                  </a:cubicBezTo>
                  <a:cubicBezTo>
                    <a:pt x="570357" y="442595"/>
                    <a:pt x="442595" y="570357"/>
                    <a:pt x="285115" y="570357"/>
                  </a:cubicBez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645920" y="6711696"/>
            <a:ext cx="8229600" cy="548640"/>
            <a:chOff x="0" y="0"/>
            <a:chExt cx="1097280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Responses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45920" y="7242048"/>
            <a:ext cx="8229600" cy="512064"/>
            <a:chOff x="0" y="0"/>
            <a:chExt cx="1097280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streaming answers to user queries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25167" y="8095231"/>
            <a:ext cx="9522457" cy="1256281"/>
            <a:chOff x="0" y="0"/>
            <a:chExt cx="12696609" cy="167504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696571" cy="1675003"/>
            </a:xfrm>
            <a:custGeom>
              <a:avLst/>
              <a:gdLst/>
              <a:ahLst/>
              <a:cxnLst/>
              <a:rect r="r" b="b" t="t" l="l"/>
              <a:pathLst>
                <a:path h="1675003" w="12696571">
                  <a:moveTo>
                    <a:pt x="0" y="0"/>
                  </a:moveTo>
                  <a:lnTo>
                    <a:pt x="12696571" y="0"/>
                  </a:lnTo>
                  <a:lnTo>
                    <a:pt x="12696571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93143" y="8491223"/>
            <a:ext cx="427739" cy="427739"/>
            <a:chOff x="0" y="0"/>
            <a:chExt cx="570319" cy="57031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70357" cy="570357"/>
            </a:xfrm>
            <a:custGeom>
              <a:avLst/>
              <a:gdLst/>
              <a:ahLst/>
              <a:cxnLst/>
              <a:rect r="r" b="b" t="t" l="l"/>
              <a:pathLst>
                <a:path h="570357" w="570357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cubicBezTo>
                    <a:pt x="442595" y="0"/>
                    <a:pt x="570357" y="127635"/>
                    <a:pt x="570357" y="285115"/>
                  </a:cubicBezTo>
                  <a:cubicBezTo>
                    <a:pt x="570357" y="442595"/>
                    <a:pt x="442595" y="570357"/>
                    <a:pt x="285115" y="570357"/>
                  </a:cubicBezTo>
                  <a:cubicBezTo>
                    <a:pt x="127635" y="570357"/>
                    <a:pt x="0" y="442595"/>
                    <a:pt x="0" y="28511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645920" y="8211312"/>
            <a:ext cx="8229600" cy="548640"/>
            <a:chOff x="0" y="0"/>
            <a:chExt cx="1097280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Adjustable AI Behavior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45920" y="8741664"/>
            <a:ext cx="8229600" cy="512064"/>
            <a:chOff x="0" y="0"/>
            <a:chExt cx="1097280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972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Customizable system prompts and temperature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777223" y="2090423"/>
            <a:ext cx="6791963" cy="7157723"/>
            <a:chOff x="0" y="0"/>
            <a:chExt cx="9055951" cy="95436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055989" cy="9543669"/>
            </a:xfrm>
            <a:custGeom>
              <a:avLst/>
              <a:gdLst/>
              <a:ahLst/>
              <a:cxnLst/>
              <a:rect r="r" b="b" t="t" l="l"/>
              <a:pathLst>
                <a:path h="9543669" w="9055989">
                  <a:moveTo>
                    <a:pt x="0" y="0"/>
                  </a:moveTo>
                  <a:lnTo>
                    <a:pt x="9055989" y="0"/>
                  </a:lnTo>
                  <a:lnTo>
                    <a:pt x="9055989" y="9543669"/>
                  </a:lnTo>
                  <a:lnTo>
                    <a:pt x="0" y="9543669"/>
                  </a:lnTo>
                  <a:close/>
                </a:path>
              </a:pathLst>
            </a:custGeom>
            <a:solidFill>
              <a:srgbClr val="03070F"/>
            </a:solidFill>
            <a:ln w="254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0972800" y="2926080"/>
            <a:ext cx="6217920" cy="475488"/>
            <a:chOff x="0" y="0"/>
            <a:chExt cx="8290560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2905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00FF88"/>
                  </a:solidFill>
                  <a:latin typeface="Consolas"/>
                  <a:ea typeface="Consolas"/>
                  <a:cs typeface="Consolas"/>
                  <a:sym typeface="Consolas"/>
                </a:rPr>
                <a:t>$ python chatbot.py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972800" y="3438144"/>
            <a:ext cx="6217920" cy="475488"/>
            <a:chOff x="0" y="0"/>
            <a:chExt cx="8290560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82905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B0C4DE"/>
                  </a:solidFill>
                  <a:latin typeface="Consolas"/>
                  <a:ea typeface="Consolas"/>
                  <a:cs typeface="Consolas"/>
                  <a:sym typeface="Consolas"/>
                </a:rPr>
                <a:t>AI Chatbot Ready! Type 'exit' to quit.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972800" y="4462272"/>
            <a:ext cx="6217920" cy="475488"/>
            <a:chOff x="0" y="0"/>
            <a:chExt cx="829056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2905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CCFF"/>
                  </a:solidFill>
                  <a:latin typeface="Consolas"/>
                  <a:ea typeface="Consolas"/>
                  <a:cs typeface="Consolas"/>
                  <a:sym typeface="Consolas"/>
                </a:rPr>
                <a:t>You: What is RAG?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972800" y="5486400"/>
            <a:ext cx="6217920" cy="475488"/>
            <a:chOff x="0" y="0"/>
            <a:chExt cx="8290560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82905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AI: RAG stands for Retrieval-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972800" y="5998464"/>
            <a:ext cx="6217920" cy="475488"/>
            <a:chOff x="0" y="0"/>
            <a:chExt cx="829056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82905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Augmented Generation. It combines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972800" y="6510528"/>
            <a:ext cx="6217920" cy="475488"/>
            <a:chOff x="0" y="0"/>
            <a:chExt cx="8290560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82905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retrieval with generation to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972800" y="8046720"/>
            <a:ext cx="6217920" cy="475488"/>
            <a:chOff x="0" y="0"/>
            <a:chExt cx="829056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82905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8CCFF"/>
                  </a:solidFill>
                  <a:latin typeface="Consolas"/>
                  <a:ea typeface="Consolas"/>
                  <a:cs typeface="Consolas"/>
                  <a:sym typeface="Consolas"/>
                </a:rPr>
                <a:t>You: _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319006" y="2889504"/>
            <a:ext cx="8234675" cy="4760201"/>
            <a:chOff x="0" y="0"/>
            <a:chExt cx="9055951" cy="5234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55989" cy="5234992"/>
            </a:xfrm>
            <a:custGeom>
              <a:avLst/>
              <a:gdLst/>
              <a:ahLst/>
              <a:cxnLst/>
              <a:rect r="r" b="b" t="t" l="l"/>
              <a:pathLst>
                <a:path h="5234992" w="9055989">
                  <a:moveTo>
                    <a:pt x="0" y="0"/>
                  </a:moveTo>
                  <a:lnTo>
                    <a:pt x="9055989" y="0"/>
                  </a:lnTo>
                  <a:lnTo>
                    <a:pt x="9055989" y="5234992"/>
                  </a:lnTo>
                  <a:lnTo>
                    <a:pt x="0" y="5234992"/>
                  </a:lnTo>
                  <a:close/>
                </a:path>
              </a:pathLst>
            </a:custGeom>
            <a:solidFill>
              <a:srgbClr val="03070F"/>
            </a:solidFill>
            <a:ln w="254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09647" y="1272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2 — RAG AI Document Assistant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18823" y="2328167"/>
            <a:ext cx="391163" cy="391163"/>
            <a:chOff x="0" y="0"/>
            <a:chExt cx="521551" cy="52155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1589" cy="521589"/>
            </a:xfrm>
            <a:custGeom>
              <a:avLst/>
              <a:gdLst/>
              <a:ahLst/>
              <a:cxnLst/>
              <a:rect r="r" b="b" t="t" l="l"/>
              <a:pathLst>
                <a:path h="521589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cubicBezTo>
                    <a:pt x="404749" y="0"/>
                    <a:pt x="521589" y="116713"/>
                    <a:pt x="521589" y="260731"/>
                  </a:cubicBezTo>
                  <a:cubicBezTo>
                    <a:pt x="521589" y="404749"/>
                    <a:pt x="404749" y="521589"/>
                    <a:pt x="260731" y="521589"/>
                  </a:cubicBez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80160" y="2194560"/>
            <a:ext cx="4206240" cy="694944"/>
            <a:chOff x="0" y="0"/>
            <a:chExt cx="560832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Upload Interface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160" y="2889504"/>
            <a:ext cx="4206240" cy="694944"/>
            <a:chOff x="0" y="0"/>
            <a:chExt cx="5608320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Semantic Search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3844790"/>
            <a:ext cx="391163" cy="391163"/>
            <a:chOff x="0" y="0"/>
            <a:chExt cx="521551" cy="5215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1589" cy="521589"/>
            </a:xfrm>
            <a:custGeom>
              <a:avLst/>
              <a:gdLst/>
              <a:ahLst/>
              <a:cxnLst/>
              <a:rect r="r" b="b" t="t" l="l"/>
              <a:pathLst>
                <a:path h="521589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cubicBezTo>
                    <a:pt x="404749" y="0"/>
                    <a:pt x="521589" y="116713"/>
                    <a:pt x="521589" y="260731"/>
                  </a:cubicBezTo>
                  <a:cubicBezTo>
                    <a:pt x="521589" y="404749"/>
                    <a:pt x="404749" y="521589"/>
                    <a:pt x="260731" y="521589"/>
                  </a:cubicBez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80160" y="3719891"/>
            <a:ext cx="4206240" cy="694944"/>
            <a:chOff x="0" y="0"/>
            <a:chExt cx="560832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 Vector DB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8823" y="4641209"/>
            <a:ext cx="391163" cy="391163"/>
            <a:chOff x="0" y="0"/>
            <a:chExt cx="521551" cy="5215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1589" cy="521589"/>
            </a:xfrm>
            <a:custGeom>
              <a:avLst/>
              <a:gdLst/>
              <a:ahLst/>
              <a:cxnLst/>
              <a:rect r="r" b="b" t="t" l="l"/>
              <a:pathLst>
                <a:path h="521589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cubicBezTo>
                    <a:pt x="404749" y="0"/>
                    <a:pt x="521589" y="116713"/>
                    <a:pt x="521589" y="260731"/>
                  </a:cubicBezTo>
                  <a:cubicBezTo>
                    <a:pt x="521589" y="404749"/>
                    <a:pt x="404749" y="521589"/>
                    <a:pt x="260731" y="521589"/>
                  </a:cubicBez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80160" y="4578472"/>
            <a:ext cx="4206240" cy="572648"/>
            <a:chOff x="0" y="0"/>
            <a:chExt cx="5608320" cy="7635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08320" cy="763530"/>
            </a:xfrm>
            <a:custGeom>
              <a:avLst/>
              <a:gdLst/>
              <a:ahLst/>
              <a:cxnLst/>
              <a:rect r="r" b="b" t="t" l="l"/>
              <a:pathLst>
                <a:path h="76353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63530"/>
                  </a:lnTo>
                  <a:lnTo>
                    <a:pt x="0" y="7635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444" r="0" b="-1038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5608320" cy="81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 Chunk Tracking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8823" y="7388857"/>
            <a:ext cx="391163" cy="391163"/>
            <a:chOff x="0" y="0"/>
            <a:chExt cx="521551" cy="52155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1589" cy="521589"/>
            </a:xfrm>
            <a:custGeom>
              <a:avLst/>
              <a:gdLst/>
              <a:ahLst/>
              <a:cxnLst/>
              <a:rect r="r" b="b" t="t" l="l"/>
              <a:pathLst>
                <a:path h="521589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cubicBezTo>
                    <a:pt x="404749" y="0"/>
                    <a:pt x="521589" y="116713"/>
                    <a:pt x="521589" y="260731"/>
                  </a:cubicBezTo>
                  <a:cubicBezTo>
                    <a:pt x="521589" y="404749"/>
                    <a:pt x="404749" y="521589"/>
                    <a:pt x="260731" y="521589"/>
                  </a:cubicBez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80160" y="7243758"/>
            <a:ext cx="4206240" cy="694944"/>
            <a:chOff x="0" y="0"/>
            <a:chExt cx="560832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Conversational Memory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18823" y="6454769"/>
            <a:ext cx="391163" cy="391163"/>
            <a:chOff x="0" y="0"/>
            <a:chExt cx="521551" cy="5215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1589" cy="521589"/>
            </a:xfrm>
            <a:custGeom>
              <a:avLst/>
              <a:gdLst/>
              <a:ahLst/>
              <a:cxnLst/>
              <a:rect r="r" b="b" t="t" l="l"/>
              <a:pathLst>
                <a:path h="521589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cubicBezTo>
                    <a:pt x="404749" y="0"/>
                    <a:pt x="521589" y="116713"/>
                    <a:pt x="521589" y="260731"/>
                  </a:cubicBezTo>
                  <a:cubicBezTo>
                    <a:pt x="521589" y="404749"/>
                    <a:pt x="404749" y="521589"/>
                    <a:pt x="260731" y="521589"/>
                  </a:cubicBez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80160" y="6340469"/>
            <a:ext cx="4206240" cy="694944"/>
            <a:chOff x="0" y="0"/>
            <a:chExt cx="560832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Web Interface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06122" y="5613397"/>
            <a:ext cx="391163" cy="391163"/>
            <a:chOff x="0" y="0"/>
            <a:chExt cx="521551" cy="52155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1589" cy="521589"/>
            </a:xfrm>
            <a:custGeom>
              <a:avLst/>
              <a:gdLst/>
              <a:ahLst/>
              <a:cxnLst/>
              <a:rect r="r" b="b" t="t" l="l"/>
              <a:pathLst>
                <a:path h="521589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cubicBezTo>
                    <a:pt x="404749" y="0"/>
                    <a:pt x="521589" y="116713"/>
                    <a:pt x="521589" y="260731"/>
                  </a:cubicBezTo>
                  <a:cubicBezTo>
                    <a:pt x="521589" y="404749"/>
                    <a:pt x="404749" y="521589"/>
                    <a:pt x="260731" y="521589"/>
                  </a:cubicBez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280160" y="5470903"/>
            <a:ext cx="4206240" cy="694944"/>
            <a:chOff x="0" y="0"/>
            <a:chExt cx="560832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608320" cy="926592"/>
            </a:xfrm>
            <a:custGeom>
              <a:avLst/>
              <a:gdLst/>
              <a:ahLst/>
              <a:cxnLst/>
              <a:rect r="r" b="b" t="t" l="l"/>
              <a:pathLst>
                <a:path h="92659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7935" r="0" b="-6793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56083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Multi-Document Retrieval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18823" y="3098159"/>
            <a:ext cx="391163" cy="391163"/>
            <a:chOff x="0" y="0"/>
            <a:chExt cx="521551" cy="52155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1589" cy="521589"/>
            </a:xfrm>
            <a:custGeom>
              <a:avLst/>
              <a:gdLst/>
              <a:ahLst/>
              <a:cxnLst/>
              <a:rect r="r" b="b" t="t" l="l"/>
              <a:pathLst>
                <a:path h="521589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cubicBezTo>
                    <a:pt x="404749" y="0"/>
                    <a:pt x="521589" y="116713"/>
                    <a:pt x="521589" y="260731"/>
                  </a:cubicBezTo>
                  <a:cubicBezTo>
                    <a:pt x="521589" y="404749"/>
                    <a:pt x="404749" y="521589"/>
                    <a:pt x="260731" y="521589"/>
                  </a:cubicBezTo>
                  <a:cubicBezTo>
                    <a:pt x="116713" y="521589"/>
                    <a:pt x="0" y="404749"/>
                    <a:pt x="0" y="260731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7475478" y="3236976"/>
            <a:ext cx="7896338" cy="3798437"/>
            <a:chOff x="0" y="0"/>
            <a:chExt cx="6365240" cy="3061921"/>
          </a:xfrm>
        </p:grpSpPr>
        <p:sp>
          <p:nvSpPr>
            <p:cNvPr name="Freeform 75" id="75"/>
            <p:cNvSpPr/>
            <p:nvPr/>
          </p:nvSpPr>
          <p:spPr>
            <a:xfrm flipH="false" flipV="false" rot="-24000">
              <a:off x="-8530" y="-19305"/>
              <a:ext cx="6382293" cy="3100531"/>
            </a:xfrm>
            <a:custGeom>
              <a:avLst/>
              <a:gdLst/>
              <a:ahLst/>
              <a:cxnLst/>
              <a:rect r="r" b="b" t="t" l="l"/>
              <a:pathLst>
                <a:path h="3100531" w="6382293">
                  <a:moveTo>
                    <a:pt x="5948995" y="3100517"/>
                  </a:moveTo>
                  <a:lnTo>
                    <a:pt x="411930" y="3061860"/>
                  </a:lnTo>
                  <a:cubicBezTo>
                    <a:pt x="183335" y="3060264"/>
                    <a:pt x="-1143" y="2924726"/>
                    <a:pt x="6" y="2760141"/>
                  </a:cubicBezTo>
                  <a:lnTo>
                    <a:pt x="17203" y="296872"/>
                  </a:lnTo>
                  <a:cubicBezTo>
                    <a:pt x="18358" y="131367"/>
                    <a:pt x="204711" y="-1582"/>
                    <a:pt x="433305" y="14"/>
                  </a:cubicBezTo>
                  <a:lnTo>
                    <a:pt x="5970371" y="38671"/>
                  </a:lnTo>
                  <a:cubicBezTo>
                    <a:pt x="6198965" y="40267"/>
                    <a:pt x="6383443" y="175804"/>
                    <a:pt x="6382288" y="341309"/>
                  </a:cubicBezTo>
                  <a:lnTo>
                    <a:pt x="6365091" y="2804578"/>
                  </a:lnTo>
                  <a:cubicBezTo>
                    <a:pt x="6363942" y="2969164"/>
                    <a:pt x="6177589" y="3102113"/>
                    <a:pt x="5948995" y="3100517"/>
                  </a:cubicBezTo>
                  <a:close/>
                </a:path>
              </a:pathLst>
            </a:custGeom>
            <a:blipFill>
              <a:blip r:embed="rId3"/>
              <a:stretch>
                <a:fillRect l="-778" t="-145" r="-13542" b="-1014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Technologies Used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0555" y="2185035"/>
            <a:ext cx="5414010" cy="2945130"/>
            <a:chOff x="0" y="0"/>
            <a:chExt cx="7218680" cy="3926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1868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218680">
                  <a:moveTo>
                    <a:pt x="0" y="0"/>
                  </a:moveTo>
                  <a:lnTo>
                    <a:pt x="7218680" y="0"/>
                  </a:lnTo>
                  <a:lnTo>
                    <a:pt x="721868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27383" y="2181863"/>
            <a:ext cx="5420363" cy="135131"/>
            <a:chOff x="0" y="0"/>
            <a:chExt cx="7227151" cy="1801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27189" cy="180213"/>
            </a:xfrm>
            <a:custGeom>
              <a:avLst/>
              <a:gdLst/>
              <a:ahLst/>
              <a:cxnLst/>
              <a:rect r="r" b="b" t="t" l="l"/>
              <a:pathLst>
                <a:path h="180213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86790" y="2504694"/>
            <a:ext cx="1043940" cy="1043940"/>
            <a:chOff x="0" y="0"/>
            <a:chExt cx="1391920" cy="1391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cubicBezTo>
                    <a:pt x="1080389" y="0"/>
                    <a:pt x="1391920" y="311531"/>
                    <a:pt x="1391920" y="695960"/>
                  </a:cubicBezTo>
                  <a:cubicBezTo>
                    <a:pt x="1391920" y="1080389"/>
                    <a:pt x="1080389" y="1391920"/>
                    <a:pt x="695960" y="1391920"/>
                  </a:cubicBezTo>
                  <a:cubicBezTo>
                    <a:pt x="311531" y="1391920"/>
                    <a:pt x="0" y="1080389"/>
                    <a:pt x="0" y="695960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05840" y="2523744"/>
            <a:ext cx="1005840" cy="1005840"/>
            <a:chOff x="0" y="0"/>
            <a:chExt cx="1341120" cy="1341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94560" y="2523744"/>
            <a:ext cx="3657600" cy="585216"/>
            <a:chOff x="0" y="0"/>
            <a:chExt cx="4876800" cy="780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876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Groq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94560" y="3108960"/>
            <a:ext cx="3657600" cy="402336"/>
            <a:chOff x="0" y="0"/>
            <a:chExt cx="4876800" cy="5364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4876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300">
                  <a:solidFill>
                    <a:srgbClr val="F973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RESPONSE GENERATION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5840" y="3803904"/>
            <a:ext cx="4846320" cy="1097280"/>
            <a:chOff x="0" y="0"/>
            <a:chExt cx="646176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461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Ultra-fast LLM inference API for real-time answers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299835" y="2185035"/>
            <a:ext cx="5414010" cy="2945130"/>
            <a:chOff x="0" y="0"/>
            <a:chExt cx="7218680" cy="39268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21868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218680">
                  <a:moveTo>
                    <a:pt x="0" y="0"/>
                  </a:moveTo>
                  <a:lnTo>
                    <a:pt x="7218680" y="0"/>
                  </a:lnTo>
                  <a:lnTo>
                    <a:pt x="721868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296663" y="2181863"/>
            <a:ext cx="5420363" cy="135131"/>
            <a:chOff x="0" y="0"/>
            <a:chExt cx="7227151" cy="1801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27189" cy="180213"/>
            </a:xfrm>
            <a:custGeom>
              <a:avLst/>
              <a:gdLst/>
              <a:ahLst/>
              <a:cxnLst/>
              <a:rect r="r" b="b" t="t" l="l"/>
              <a:pathLst>
                <a:path h="180213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22C55E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656070" y="2504694"/>
            <a:ext cx="1043940" cy="1043940"/>
            <a:chOff x="0" y="0"/>
            <a:chExt cx="1391920" cy="1391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cubicBezTo>
                    <a:pt x="1080389" y="0"/>
                    <a:pt x="1391920" y="311531"/>
                    <a:pt x="1391920" y="695960"/>
                  </a:cubicBezTo>
                  <a:cubicBezTo>
                    <a:pt x="1391920" y="1080389"/>
                    <a:pt x="1080389" y="1391920"/>
                    <a:pt x="695960" y="1391920"/>
                  </a:cubicBezTo>
                  <a:cubicBezTo>
                    <a:pt x="311531" y="1391920"/>
                    <a:pt x="0" y="1080389"/>
                    <a:pt x="0" y="695960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675120" y="2523744"/>
            <a:ext cx="1005840" cy="1005840"/>
            <a:chOff x="0" y="0"/>
            <a:chExt cx="1341120" cy="134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863840" y="2523744"/>
            <a:ext cx="3657600" cy="585216"/>
            <a:chOff x="0" y="0"/>
            <a:chExt cx="4876800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4876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LangChain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863840" y="3108960"/>
            <a:ext cx="3657600" cy="402336"/>
            <a:chOff x="0" y="0"/>
            <a:chExt cx="4876800" cy="5364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4876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3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 WORKFLOW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75120" y="3803904"/>
            <a:ext cx="4846320" cy="1097280"/>
            <a:chOff x="0" y="0"/>
            <a:chExt cx="6461760" cy="1463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6461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Orchestrates retrieval chains and LLM pipelines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969115" y="2185035"/>
            <a:ext cx="5414010" cy="2945130"/>
            <a:chOff x="0" y="0"/>
            <a:chExt cx="7218680" cy="3926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21868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218680">
                  <a:moveTo>
                    <a:pt x="0" y="0"/>
                  </a:moveTo>
                  <a:lnTo>
                    <a:pt x="7218680" y="0"/>
                  </a:lnTo>
                  <a:lnTo>
                    <a:pt x="721868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1965943" y="2181863"/>
            <a:ext cx="5420363" cy="135131"/>
            <a:chOff x="0" y="0"/>
            <a:chExt cx="7227151" cy="18017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27189" cy="180213"/>
            </a:xfrm>
            <a:custGeom>
              <a:avLst/>
              <a:gdLst/>
              <a:ahLst/>
              <a:cxnLst/>
              <a:rect r="r" b="b" t="t" l="l"/>
              <a:pathLst>
                <a:path h="180213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A855F7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325350" y="2504694"/>
            <a:ext cx="1043940" cy="1043940"/>
            <a:chOff x="0" y="0"/>
            <a:chExt cx="1391920" cy="13919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cubicBezTo>
                    <a:pt x="1080389" y="0"/>
                    <a:pt x="1391920" y="311531"/>
                    <a:pt x="1391920" y="695960"/>
                  </a:cubicBezTo>
                  <a:cubicBezTo>
                    <a:pt x="1391920" y="1080389"/>
                    <a:pt x="1080389" y="1391920"/>
                    <a:pt x="695960" y="1391920"/>
                  </a:cubicBezTo>
                  <a:cubicBezTo>
                    <a:pt x="311531" y="1391920"/>
                    <a:pt x="0" y="1080389"/>
                    <a:pt x="0" y="695960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A855F7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344400" y="2523744"/>
            <a:ext cx="1005840" cy="1005840"/>
            <a:chOff x="0" y="0"/>
            <a:chExt cx="1341120" cy="13411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533120" y="2523744"/>
            <a:ext cx="3657600" cy="585216"/>
            <a:chOff x="0" y="0"/>
            <a:chExt cx="4876800" cy="7802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4876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ChromaDB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533120" y="3108960"/>
            <a:ext cx="3657600" cy="402336"/>
            <a:chOff x="0" y="0"/>
            <a:chExt cx="4876800" cy="5364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4876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300">
                  <a:solidFill>
                    <a:srgbClr val="A855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VECTOR DATABASE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344400" y="3803904"/>
            <a:ext cx="4846320" cy="1097280"/>
            <a:chOff x="0" y="0"/>
            <a:chExt cx="6461760" cy="14630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6461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Stores and queries document embeddings efficiently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30555" y="5476875"/>
            <a:ext cx="5414010" cy="2945130"/>
            <a:chOff x="0" y="0"/>
            <a:chExt cx="7218680" cy="39268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21868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218680">
                  <a:moveTo>
                    <a:pt x="0" y="0"/>
                  </a:moveTo>
                  <a:lnTo>
                    <a:pt x="7218680" y="0"/>
                  </a:lnTo>
                  <a:lnTo>
                    <a:pt x="721868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627383" y="5473703"/>
            <a:ext cx="5420363" cy="135131"/>
            <a:chOff x="0" y="0"/>
            <a:chExt cx="7227151" cy="18017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227189" cy="180213"/>
            </a:xfrm>
            <a:custGeom>
              <a:avLst/>
              <a:gdLst/>
              <a:ahLst/>
              <a:cxnLst/>
              <a:rect r="r" b="b" t="t" l="l"/>
              <a:pathLst>
                <a:path h="180213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FACC15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86790" y="5796534"/>
            <a:ext cx="1043940" cy="1043940"/>
            <a:chOff x="0" y="0"/>
            <a:chExt cx="1391920" cy="13919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cubicBezTo>
                    <a:pt x="1080389" y="0"/>
                    <a:pt x="1391920" y="311531"/>
                    <a:pt x="1391920" y="695960"/>
                  </a:cubicBezTo>
                  <a:cubicBezTo>
                    <a:pt x="1391920" y="1080389"/>
                    <a:pt x="1080389" y="1391920"/>
                    <a:pt x="695960" y="1391920"/>
                  </a:cubicBezTo>
                  <a:cubicBezTo>
                    <a:pt x="311531" y="1391920"/>
                    <a:pt x="0" y="1080389"/>
                    <a:pt x="0" y="695960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005840" y="5815584"/>
            <a:ext cx="1005840" cy="1005840"/>
            <a:chOff x="0" y="0"/>
            <a:chExt cx="1341120" cy="13411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ACC1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2194560" y="5815584"/>
            <a:ext cx="3657600" cy="585216"/>
            <a:chOff x="0" y="0"/>
            <a:chExt cx="4876800" cy="78028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4876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HuggingFace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2194560" y="6400800"/>
            <a:ext cx="3657600" cy="402336"/>
            <a:chOff x="0" y="0"/>
            <a:chExt cx="4876800" cy="5364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28575"/>
              <a:ext cx="4876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300">
                  <a:solidFill>
                    <a:srgbClr val="FACC1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EMBEDDING GENERATION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05840" y="7095744"/>
            <a:ext cx="4846320" cy="1097280"/>
            <a:chOff x="0" y="0"/>
            <a:chExt cx="6461760" cy="14630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6461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Semantic text embeddings for document indexing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299835" y="5476875"/>
            <a:ext cx="5414010" cy="2945130"/>
            <a:chOff x="0" y="0"/>
            <a:chExt cx="7218680" cy="39268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21868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218680">
                  <a:moveTo>
                    <a:pt x="0" y="0"/>
                  </a:moveTo>
                  <a:lnTo>
                    <a:pt x="7218680" y="0"/>
                  </a:lnTo>
                  <a:lnTo>
                    <a:pt x="721868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6296663" y="5473703"/>
            <a:ext cx="5420363" cy="135131"/>
            <a:chOff x="0" y="0"/>
            <a:chExt cx="7227151" cy="18017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227189" cy="180213"/>
            </a:xfrm>
            <a:custGeom>
              <a:avLst/>
              <a:gdLst/>
              <a:ahLst/>
              <a:cxnLst/>
              <a:rect r="r" b="b" t="t" l="l"/>
              <a:pathLst>
                <a:path h="180213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6656070" y="5796534"/>
            <a:ext cx="1043940" cy="1043940"/>
            <a:chOff x="0" y="0"/>
            <a:chExt cx="1391920" cy="13919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cubicBezTo>
                    <a:pt x="1080389" y="0"/>
                    <a:pt x="1391920" y="311531"/>
                    <a:pt x="1391920" y="695960"/>
                  </a:cubicBezTo>
                  <a:cubicBezTo>
                    <a:pt x="1391920" y="1080389"/>
                    <a:pt x="1080389" y="1391920"/>
                    <a:pt x="695960" y="1391920"/>
                  </a:cubicBezTo>
                  <a:cubicBezTo>
                    <a:pt x="311531" y="1391920"/>
                    <a:pt x="0" y="1080389"/>
                    <a:pt x="0" y="695960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6675120" y="5815584"/>
            <a:ext cx="1005840" cy="1005840"/>
            <a:chOff x="0" y="0"/>
            <a:chExt cx="1341120" cy="13411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863840" y="5815584"/>
            <a:ext cx="3657600" cy="585216"/>
            <a:chOff x="0" y="0"/>
            <a:chExt cx="4876800" cy="78028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4876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7863840" y="6400800"/>
            <a:ext cx="3657600" cy="402336"/>
            <a:chOff x="0" y="0"/>
            <a:chExt cx="4876800" cy="53644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4876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3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INTERFACE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6675120" y="7095744"/>
            <a:ext cx="4846320" cy="1097280"/>
            <a:chOff x="0" y="0"/>
            <a:chExt cx="6461760" cy="14630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461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Rapid web app framework for the AI frontend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969115" y="5476875"/>
            <a:ext cx="5414010" cy="2945130"/>
            <a:chOff x="0" y="0"/>
            <a:chExt cx="7218680" cy="39268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21868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218680">
                  <a:moveTo>
                    <a:pt x="0" y="0"/>
                  </a:moveTo>
                  <a:lnTo>
                    <a:pt x="7218680" y="0"/>
                  </a:lnTo>
                  <a:lnTo>
                    <a:pt x="721868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1965943" y="5473703"/>
            <a:ext cx="5420363" cy="135131"/>
            <a:chOff x="0" y="0"/>
            <a:chExt cx="7227151" cy="180175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227189" cy="180213"/>
            </a:xfrm>
            <a:custGeom>
              <a:avLst/>
              <a:gdLst/>
              <a:ahLst/>
              <a:cxnLst/>
              <a:rect r="r" b="b" t="t" l="l"/>
              <a:pathLst>
                <a:path h="180213" w="7227189">
                  <a:moveTo>
                    <a:pt x="0" y="0"/>
                  </a:moveTo>
                  <a:lnTo>
                    <a:pt x="7227189" y="0"/>
                  </a:lnTo>
                  <a:lnTo>
                    <a:pt x="72271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325350" y="5796534"/>
            <a:ext cx="1043940" cy="1043940"/>
            <a:chOff x="0" y="0"/>
            <a:chExt cx="1391920" cy="139192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391920" cy="1391920"/>
            </a:xfrm>
            <a:custGeom>
              <a:avLst/>
              <a:gdLst/>
              <a:ahLst/>
              <a:cxnLst/>
              <a:rect r="r" b="b" t="t" l="l"/>
              <a:pathLst>
                <a:path h="1391920" w="1391920">
                  <a:moveTo>
                    <a:pt x="0" y="695960"/>
                  </a:moveTo>
                  <a:cubicBezTo>
                    <a:pt x="0" y="311531"/>
                    <a:pt x="311531" y="0"/>
                    <a:pt x="695960" y="0"/>
                  </a:cubicBezTo>
                  <a:cubicBezTo>
                    <a:pt x="1080389" y="0"/>
                    <a:pt x="1391920" y="311531"/>
                    <a:pt x="1391920" y="695960"/>
                  </a:cubicBezTo>
                  <a:cubicBezTo>
                    <a:pt x="1391920" y="1080389"/>
                    <a:pt x="1080389" y="1391920"/>
                    <a:pt x="695960" y="1391920"/>
                  </a:cubicBezTo>
                  <a:cubicBezTo>
                    <a:pt x="311531" y="1391920"/>
                    <a:pt x="0" y="1080389"/>
                    <a:pt x="0" y="695960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2344400" y="5815584"/>
            <a:ext cx="1005840" cy="1005840"/>
            <a:chOff x="0" y="0"/>
            <a:chExt cx="1341120" cy="134112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3533120" y="5815584"/>
            <a:ext cx="3657600" cy="585216"/>
            <a:chOff x="0" y="0"/>
            <a:chExt cx="4876800" cy="78028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876800" cy="780288"/>
            </a:xfrm>
            <a:custGeom>
              <a:avLst/>
              <a:gdLst/>
              <a:ahLst/>
              <a:cxnLst/>
              <a:rect r="r" b="b" t="t" l="l"/>
              <a:pathLst>
                <a:path h="78028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57150"/>
              <a:ext cx="48768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3533120" y="6400800"/>
            <a:ext cx="3657600" cy="402336"/>
            <a:chOff x="0" y="0"/>
            <a:chExt cx="4876800" cy="536448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876800" cy="536448"/>
            </a:xfrm>
            <a:custGeom>
              <a:avLst/>
              <a:gdLst/>
              <a:ahLst/>
              <a:cxnLst/>
              <a:rect r="r" b="b" t="t" l="l"/>
              <a:pathLst>
                <a:path h="536448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4876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spc="300">
                  <a:solidFill>
                    <a:srgbClr val="3B82F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DEVELOPMENT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2344400" y="7095744"/>
            <a:ext cx="4846320" cy="1097280"/>
            <a:chOff x="0" y="0"/>
            <a:chExt cx="6461760" cy="146304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6461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6461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language powering all system components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&amp; Solutions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8823" y="1998983"/>
            <a:ext cx="7706363" cy="793499"/>
            <a:chOff x="0" y="0"/>
            <a:chExt cx="10275151" cy="105799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751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2A0A0A"/>
            </a:solidFill>
            <a:ln w="25400" cap="sq">
              <a:solidFill>
                <a:srgbClr val="FF444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2011680"/>
            <a:ext cx="7680960" cy="768096"/>
            <a:chOff x="0" y="0"/>
            <a:chExt cx="10241280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2412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CHALLENGE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62823" y="1998983"/>
            <a:ext cx="7706363" cy="793499"/>
            <a:chOff x="0" y="0"/>
            <a:chExt cx="10275151" cy="105799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75189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275189">
                  <a:moveTo>
                    <a:pt x="0" y="0"/>
                  </a:moveTo>
                  <a:lnTo>
                    <a:pt x="10275189" y="0"/>
                  </a:lnTo>
                  <a:lnTo>
                    <a:pt x="1027518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A2A1A"/>
            </a:solidFill>
            <a:ln w="254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875520" y="2011680"/>
            <a:ext cx="7680960" cy="768096"/>
            <a:chOff x="0" y="0"/>
            <a:chExt cx="1024128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412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SOLUTION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25167" y="3011167"/>
            <a:ext cx="7693657" cy="1329433"/>
            <a:chOff x="0" y="0"/>
            <a:chExt cx="10258209" cy="177257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F050A"/>
            </a:solidFill>
            <a:ln w="12700" cap="sq">
              <a:solidFill>
                <a:srgbClr val="2A101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93143" y="3480311"/>
            <a:ext cx="354587" cy="354587"/>
            <a:chOff x="0" y="0"/>
            <a:chExt cx="472783" cy="4727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554480" y="3346704"/>
            <a:ext cx="6675120" cy="694944"/>
            <a:chOff x="0" y="0"/>
            <a:chExt cx="8900160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Slow document retrieval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393430" y="3656838"/>
            <a:ext cx="1501140" cy="38100"/>
            <a:chOff x="0" y="0"/>
            <a:chExt cx="2001520" cy="50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01520" cy="50800"/>
            </a:xfrm>
            <a:custGeom>
              <a:avLst/>
              <a:gdLst/>
              <a:ahLst/>
              <a:cxnLst/>
              <a:rect r="r" b="b" t="t" l="l"/>
              <a:pathLst>
                <a:path h="50800" w="2001520">
                  <a:moveTo>
                    <a:pt x="0" y="0"/>
                  </a:moveTo>
                  <a:lnTo>
                    <a:pt x="20015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717710" r="0" b="-71771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961120" y="3419856"/>
            <a:ext cx="731520" cy="512064"/>
            <a:chOff x="0" y="0"/>
            <a:chExt cx="9753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75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FF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869167" y="3011167"/>
            <a:ext cx="7693657" cy="1329433"/>
            <a:chOff x="0" y="0"/>
            <a:chExt cx="10258209" cy="177257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40F0A"/>
            </a:solidFill>
            <a:ln w="12700" cap="sq">
              <a:solidFill>
                <a:srgbClr val="102A1A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137143" y="3480311"/>
            <a:ext cx="354587" cy="354587"/>
            <a:chOff x="0" y="0"/>
            <a:chExt cx="472783" cy="47278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0698480" y="3346704"/>
            <a:ext cx="6675120" cy="694944"/>
            <a:chOff x="0" y="0"/>
            <a:chExt cx="8900160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Optimized chunking strategy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25167" y="4602223"/>
            <a:ext cx="7693657" cy="1329433"/>
            <a:chOff x="0" y="0"/>
            <a:chExt cx="10258209" cy="177257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F050A"/>
            </a:solidFill>
            <a:ln w="12700" cap="sq">
              <a:solidFill>
                <a:srgbClr val="2A1010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93143" y="5071367"/>
            <a:ext cx="354587" cy="354587"/>
            <a:chOff x="0" y="0"/>
            <a:chExt cx="472783" cy="47278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554480" y="4937760"/>
            <a:ext cx="6675120" cy="694944"/>
            <a:chOff x="0" y="0"/>
            <a:chExt cx="890016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Context handling across turns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393430" y="5247894"/>
            <a:ext cx="1501140" cy="38100"/>
            <a:chOff x="0" y="0"/>
            <a:chExt cx="2001520" cy="50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01520" cy="50800"/>
            </a:xfrm>
            <a:custGeom>
              <a:avLst/>
              <a:gdLst/>
              <a:ahLst/>
              <a:cxnLst/>
              <a:rect r="r" b="b" t="t" l="l"/>
              <a:pathLst>
                <a:path h="50800" w="2001520">
                  <a:moveTo>
                    <a:pt x="0" y="0"/>
                  </a:moveTo>
                  <a:lnTo>
                    <a:pt x="20015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717710" r="0" b="-71771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8961120" y="5010912"/>
            <a:ext cx="731520" cy="512064"/>
            <a:chOff x="0" y="0"/>
            <a:chExt cx="97536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75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FF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69167" y="4602223"/>
            <a:ext cx="7693657" cy="1329433"/>
            <a:chOff x="0" y="0"/>
            <a:chExt cx="10258209" cy="177257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40F0A"/>
            </a:solidFill>
            <a:ln w="12700" cap="sq">
              <a:solidFill>
                <a:srgbClr val="102A1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137143" y="5071367"/>
            <a:ext cx="354587" cy="354587"/>
            <a:chOff x="0" y="0"/>
            <a:chExt cx="472783" cy="47278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698480" y="4937760"/>
            <a:ext cx="6675120" cy="694944"/>
            <a:chOff x="0" y="0"/>
            <a:chExt cx="8900160" cy="9265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Conversational memory buffer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25167" y="6193279"/>
            <a:ext cx="7693657" cy="1329433"/>
            <a:chOff x="0" y="0"/>
            <a:chExt cx="10258209" cy="177257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F050A"/>
            </a:solidFill>
            <a:ln w="12700" cap="sq">
              <a:solidFill>
                <a:srgbClr val="2A101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93143" y="6662423"/>
            <a:ext cx="354587" cy="354587"/>
            <a:chOff x="0" y="0"/>
            <a:chExt cx="472783" cy="47278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554480" y="6528816"/>
            <a:ext cx="6675120" cy="694944"/>
            <a:chOff x="0" y="0"/>
            <a:chExt cx="890016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PDF uploads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393430" y="6838950"/>
            <a:ext cx="1501140" cy="38100"/>
            <a:chOff x="0" y="0"/>
            <a:chExt cx="2001520" cy="50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01520" cy="50800"/>
            </a:xfrm>
            <a:custGeom>
              <a:avLst/>
              <a:gdLst/>
              <a:ahLst/>
              <a:cxnLst/>
              <a:rect r="r" b="b" t="t" l="l"/>
              <a:pathLst>
                <a:path h="50800" w="2001520">
                  <a:moveTo>
                    <a:pt x="0" y="0"/>
                  </a:moveTo>
                  <a:lnTo>
                    <a:pt x="20015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717710" r="0" b="-71771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8961120" y="6601968"/>
            <a:ext cx="731520" cy="512064"/>
            <a:chOff x="0" y="0"/>
            <a:chExt cx="97536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975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FF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869167" y="6193279"/>
            <a:ext cx="7693657" cy="1329433"/>
            <a:chOff x="0" y="0"/>
            <a:chExt cx="10258209" cy="1772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40F0A"/>
            </a:solidFill>
            <a:ln w="12700" cap="sq">
              <a:solidFill>
                <a:srgbClr val="102A1A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0137143" y="6662423"/>
            <a:ext cx="354587" cy="354587"/>
            <a:chOff x="0" y="0"/>
            <a:chExt cx="472783" cy="47278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698480" y="6528816"/>
            <a:ext cx="6675120" cy="694944"/>
            <a:chOff x="0" y="0"/>
            <a:chExt cx="890016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indexing pipeline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25167" y="7784335"/>
            <a:ext cx="7693657" cy="1329433"/>
            <a:chOff x="0" y="0"/>
            <a:chExt cx="10258209" cy="177257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F050A"/>
            </a:solidFill>
            <a:ln w="12700" cap="sq">
              <a:solidFill>
                <a:srgbClr val="2A1010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993143" y="8253479"/>
            <a:ext cx="354587" cy="354587"/>
            <a:chOff x="0" y="0"/>
            <a:chExt cx="472783" cy="47278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F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554480" y="8119872"/>
            <a:ext cx="6675120" cy="694944"/>
            <a:chOff x="0" y="0"/>
            <a:chExt cx="8900160" cy="92659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Accurate semantic retrieval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8393430" y="8430006"/>
            <a:ext cx="1501140" cy="38100"/>
            <a:chOff x="0" y="0"/>
            <a:chExt cx="2001520" cy="50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001520" cy="50800"/>
            </a:xfrm>
            <a:custGeom>
              <a:avLst/>
              <a:gdLst/>
              <a:ahLst/>
              <a:cxnLst/>
              <a:rect r="r" b="b" t="t" l="l"/>
              <a:pathLst>
                <a:path h="50800" w="2001520">
                  <a:moveTo>
                    <a:pt x="0" y="0"/>
                  </a:moveTo>
                  <a:lnTo>
                    <a:pt x="200152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717710" r="0" b="-71771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8961120" y="8193024"/>
            <a:ext cx="731520" cy="512064"/>
            <a:chOff x="0" y="0"/>
            <a:chExt cx="97536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7536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812" t="0" r="-39812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9753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00FF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869167" y="7784335"/>
            <a:ext cx="7693657" cy="1329433"/>
            <a:chOff x="0" y="0"/>
            <a:chExt cx="10258209" cy="177257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258171" cy="1772539"/>
            </a:xfrm>
            <a:custGeom>
              <a:avLst/>
              <a:gdLst/>
              <a:ahLst/>
              <a:cxnLst/>
              <a:rect r="r" b="b" t="t" l="l"/>
              <a:pathLst>
                <a:path h="1772539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1772539"/>
                  </a:lnTo>
                  <a:lnTo>
                    <a:pt x="0" y="1772539"/>
                  </a:lnTo>
                  <a:close/>
                </a:path>
              </a:pathLst>
            </a:custGeom>
            <a:solidFill>
              <a:srgbClr val="040F0A"/>
            </a:solidFill>
            <a:ln w="12700" cap="sq">
              <a:solidFill>
                <a:srgbClr val="102A1A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137143" y="8253479"/>
            <a:ext cx="354587" cy="354587"/>
            <a:chOff x="0" y="0"/>
            <a:chExt cx="472783" cy="47278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698480" y="8119872"/>
            <a:ext cx="6675120" cy="694944"/>
            <a:chOff x="0" y="0"/>
            <a:chExt cx="8900160" cy="9265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900160" cy="926592"/>
            </a:xfrm>
            <a:custGeom>
              <a:avLst/>
              <a:gdLst/>
              <a:ahLst/>
              <a:cxnLst/>
              <a:rect r="r" b="b" t="t" l="l"/>
              <a:pathLst>
                <a:path h="9265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158" r="0" b="-13715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89001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Embedding-based semantic search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 Contribution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5167" y="2096767"/>
            <a:ext cx="8242297" cy="1475737"/>
            <a:chOff x="0" y="0"/>
            <a:chExt cx="10989729" cy="19676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89691" cy="1967611"/>
            </a:xfrm>
            <a:custGeom>
              <a:avLst/>
              <a:gdLst/>
              <a:ahLst/>
              <a:cxnLst/>
              <a:rect r="r" b="b" t="t" l="l"/>
              <a:pathLst>
                <a:path h="196761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967611"/>
                  </a:lnTo>
                  <a:lnTo>
                    <a:pt x="0" y="1967611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05840" y="2377440"/>
            <a:ext cx="914400" cy="914400"/>
            <a:chOff x="0" y="0"/>
            <a:chExt cx="12192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038731" y="2276475"/>
            <a:ext cx="19050" cy="1116330"/>
            <a:chOff x="0" y="0"/>
            <a:chExt cx="25400" cy="1488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4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5400">
                  <a:moveTo>
                    <a:pt x="0" y="0"/>
                  </a:moveTo>
                  <a:lnTo>
                    <a:pt x="25400" y="14884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468589" t="0" r="-7468589" b="0"/>
              </a:stretch>
            </a:blip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2286000" y="2231136"/>
            <a:ext cx="6400800" cy="548640"/>
            <a:chOff x="0" y="0"/>
            <a:chExt cx="85344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Chatbot Backend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286000" y="2779776"/>
            <a:ext cx="6400800" cy="694944"/>
            <a:chOff x="0" y="0"/>
            <a:chExt cx="85344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Developed core chatbot backend logic and conversation handling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25167" y="3852415"/>
            <a:ext cx="8242297" cy="1475737"/>
            <a:chOff x="0" y="0"/>
            <a:chExt cx="10989729" cy="196764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89691" cy="1967611"/>
            </a:xfrm>
            <a:custGeom>
              <a:avLst/>
              <a:gdLst/>
              <a:ahLst/>
              <a:cxnLst/>
              <a:rect r="r" b="b" t="t" l="l"/>
              <a:pathLst>
                <a:path h="196761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967611"/>
                  </a:lnTo>
                  <a:lnTo>
                    <a:pt x="0" y="1967611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05840" y="4133088"/>
            <a:ext cx="914400" cy="914400"/>
            <a:chOff x="0" y="0"/>
            <a:chExt cx="121920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38731" y="4032123"/>
            <a:ext cx="19050" cy="1116330"/>
            <a:chOff x="0" y="0"/>
            <a:chExt cx="25400" cy="1488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4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5400">
                  <a:moveTo>
                    <a:pt x="0" y="0"/>
                  </a:moveTo>
                  <a:lnTo>
                    <a:pt x="25400" y="14884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468589" t="0" r="-7468589" b="0"/>
              </a:stretch>
            </a:blip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2286000" y="3986784"/>
            <a:ext cx="6400800" cy="548640"/>
            <a:chOff x="0" y="0"/>
            <a:chExt cx="85344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Groq API Integration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286000" y="4535424"/>
            <a:ext cx="6400800" cy="694944"/>
            <a:chOff x="0" y="0"/>
            <a:chExt cx="853440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Integrated Groq LLM API for high-speed inference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25167" y="5608063"/>
            <a:ext cx="8242297" cy="1475737"/>
            <a:chOff x="0" y="0"/>
            <a:chExt cx="10989729" cy="196764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89691" cy="1967611"/>
            </a:xfrm>
            <a:custGeom>
              <a:avLst/>
              <a:gdLst/>
              <a:ahLst/>
              <a:cxnLst/>
              <a:rect r="r" b="b" t="t" l="l"/>
              <a:pathLst>
                <a:path h="196761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967611"/>
                  </a:lnTo>
                  <a:lnTo>
                    <a:pt x="0" y="1967611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05840" y="5888736"/>
            <a:ext cx="914400" cy="914400"/>
            <a:chOff x="0" y="0"/>
            <a:chExt cx="121920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038731" y="5787771"/>
            <a:ext cx="19050" cy="1116330"/>
            <a:chOff x="0" y="0"/>
            <a:chExt cx="25400" cy="1488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54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5400">
                  <a:moveTo>
                    <a:pt x="0" y="0"/>
                  </a:moveTo>
                  <a:lnTo>
                    <a:pt x="25400" y="14884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468589" t="0" r="-7468589" b="0"/>
              </a:stretch>
            </a:blip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2286000" y="5742432"/>
            <a:ext cx="6400800" cy="548640"/>
            <a:chOff x="0" y="0"/>
            <a:chExt cx="853440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Pipeline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286000" y="6291072"/>
            <a:ext cx="6400800" cy="694944"/>
            <a:chOff x="0" y="0"/>
            <a:chExt cx="8534400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Implemented full Retrieval-Augmented Generation pipeline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25167" y="7363711"/>
            <a:ext cx="8242297" cy="1475737"/>
            <a:chOff x="0" y="0"/>
            <a:chExt cx="10989729" cy="196764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89691" cy="1967611"/>
            </a:xfrm>
            <a:custGeom>
              <a:avLst/>
              <a:gdLst/>
              <a:ahLst/>
              <a:cxnLst/>
              <a:rect r="r" b="b" t="t" l="l"/>
              <a:pathLst>
                <a:path h="196761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967611"/>
                  </a:lnTo>
                  <a:lnTo>
                    <a:pt x="0" y="1967611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005840" y="7644384"/>
            <a:ext cx="914400" cy="914400"/>
            <a:chOff x="0" y="0"/>
            <a:chExt cx="121920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2038731" y="7543419"/>
            <a:ext cx="19050" cy="1116330"/>
            <a:chOff x="0" y="0"/>
            <a:chExt cx="25400" cy="1488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4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5400">
                  <a:moveTo>
                    <a:pt x="0" y="0"/>
                  </a:moveTo>
                  <a:lnTo>
                    <a:pt x="25400" y="14884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468589" t="0" r="-7468589" b="0"/>
              </a:stretch>
            </a:blip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2286000" y="7498080"/>
            <a:ext cx="6400800" cy="548640"/>
            <a:chOff x="0" y="0"/>
            <a:chExt cx="853440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Streamlit Frontend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2286000" y="8046720"/>
            <a:ext cx="6400800" cy="694944"/>
            <a:chOff x="0" y="0"/>
            <a:chExt cx="853440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responsive and interactive web UI with Streamlit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03407" y="2096767"/>
            <a:ext cx="8242297" cy="1475737"/>
            <a:chOff x="0" y="0"/>
            <a:chExt cx="10989729" cy="196764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89691" cy="1967611"/>
            </a:xfrm>
            <a:custGeom>
              <a:avLst/>
              <a:gdLst/>
              <a:ahLst/>
              <a:cxnLst/>
              <a:rect r="r" b="b" t="t" l="l"/>
              <a:pathLst>
                <a:path h="196761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967611"/>
                  </a:lnTo>
                  <a:lnTo>
                    <a:pt x="0" y="1967611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9784080" y="2377440"/>
            <a:ext cx="914400" cy="914400"/>
            <a:chOff x="0" y="0"/>
            <a:chExt cx="1219200" cy="1219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816971" y="2276475"/>
            <a:ext cx="19050" cy="1116330"/>
            <a:chOff x="0" y="0"/>
            <a:chExt cx="25400" cy="1488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54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5400">
                  <a:moveTo>
                    <a:pt x="0" y="0"/>
                  </a:moveTo>
                  <a:lnTo>
                    <a:pt x="25400" y="14884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468589" t="0" r="-7468589" b="0"/>
              </a:stretch>
            </a:blip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1064240" y="2231136"/>
            <a:ext cx="6400800" cy="548640"/>
            <a:chOff x="0" y="0"/>
            <a:chExt cx="853440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 Upload System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064240" y="2779776"/>
            <a:ext cx="6400800" cy="694944"/>
            <a:chOff x="0" y="0"/>
            <a:chExt cx="8534400" cy="9265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Added real-time PDF upload and indexing capability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503407" y="3852415"/>
            <a:ext cx="8242297" cy="1475737"/>
            <a:chOff x="0" y="0"/>
            <a:chExt cx="10989729" cy="1967649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989691" cy="1967611"/>
            </a:xfrm>
            <a:custGeom>
              <a:avLst/>
              <a:gdLst/>
              <a:ahLst/>
              <a:cxnLst/>
              <a:rect r="r" b="b" t="t" l="l"/>
              <a:pathLst>
                <a:path h="196761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967611"/>
                  </a:lnTo>
                  <a:lnTo>
                    <a:pt x="0" y="1967611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9784080" y="4133088"/>
            <a:ext cx="914400" cy="914400"/>
            <a:chOff x="0" y="0"/>
            <a:chExt cx="1219200" cy="12192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816971" y="4032123"/>
            <a:ext cx="19050" cy="1116330"/>
            <a:chOff x="0" y="0"/>
            <a:chExt cx="25400" cy="1488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4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5400">
                  <a:moveTo>
                    <a:pt x="0" y="0"/>
                  </a:moveTo>
                  <a:lnTo>
                    <a:pt x="25400" y="14884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468589" t="0" r="-7468589" b="0"/>
              </a:stretch>
            </a:blip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064240" y="3986784"/>
            <a:ext cx="6400800" cy="548640"/>
            <a:chOff x="0" y="0"/>
            <a:chExt cx="8534400" cy="73152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 Tracking &amp; Memory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064240" y="4535424"/>
            <a:ext cx="6400800" cy="694944"/>
            <a:chOff x="0" y="0"/>
            <a:chExt cx="8534400" cy="92659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Enabled chunk-level source tracking and memory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503407" y="5608063"/>
            <a:ext cx="8242297" cy="1475737"/>
            <a:chOff x="0" y="0"/>
            <a:chExt cx="10989729" cy="196764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989691" cy="1967611"/>
            </a:xfrm>
            <a:custGeom>
              <a:avLst/>
              <a:gdLst/>
              <a:ahLst/>
              <a:cxnLst/>
              <a:rect r="r" b="b" t="t" l="l"/>
              <a:pathLst>
                <a:path h="196761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1967611"/>
                  </a:lnTo>
                  <a:lnTo>
                    <a:pt x="0" y="1967611"/>
                  </a:lnTo>
                  <a:close/>
                </a:path>
              </a:pathLst>
            </a:custGeom>
            <a:solidFill>
              <a:srgbClr val="0D1F3C"/>
            </a:solidFill>
            <a:ln w="1270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9784080" y="5888736"/>
            <a:ext cx="914400" cy="914400"/>
            <a:chOff x="0" y="0"/>
            <a:chExt cx="1219200" cy="12192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816971" y="5787771"/>
            <a:ext cx="19050" cy="1116330"/>
            <a:chOff x="0" y="0"/>
            <a:chExt cx="25400" cy="1488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5400" cy="1488440"/>
            </a:xfrm>
            <a:custGeom>
              <a:avLst/>
              <a:gdLst/>
              <a:ahLst/>
              <a:cxnLst/>
              <a:rect r="r" b="b" t="t" l="l"/>
              <a:pathLst>
                <a:path h="1488440" w="25400">
                  <a:moveTo>
                    <a:pt x="0" y="0"/>
                  </a:moveTo>
                  <a:lnTo>
                    <a:pt x="25400" y="148844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7468589" t="0" r="-7468589" b="0"/>
              </a:stretch>
            </a:blip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11064240" y="5742432"/>
            <a:ext cx="6400800" cy="548640"/>
            <a:chOff x="0" y="0"/>
            <a:chExt cx="8534400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8534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Futuristic UI Design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064240" y="6291072"/>
            <a:ext cx="6400800" cy="694944"/>
            <a:chOff x="0" y="0"/>
            <a:chExt cx="8534400" cy="9265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467" r="0" b="-12946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Designed the dark AI-themed user interface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2051047"/>
            <a:ext cx="18300697" cy="12697"/>
            <a:chOff x="0" y="0"/>
            <a:chExt cx="24400929" cy="16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353" y="4108447"/>
            <a:ext cx="18300697" cy="12697"/>
            <a:chOff x="0" y="0"/>
            <a:chExt cx="24400929" cy="16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6353" y="6165847"/>
            <a:ext cx="18300697" cy="12697"/>
            <a:chOff x="0" y="0"/>
            <a:chExt cx="24400929" cy="16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6353" y="8223247"/>
            <a:ext cx="18300697" cy="12697"/>
            <a:chOff x="0" y="0"/>
            <a:chExt cx="24400929" cy="16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0890" cy="16891"/>
            </a:xfrm>
            <a:custGeom>
              <a:avLst/>
              <a:gdLst/>
              <a:ahLst/>
              <a:cxnLst/>
              <a:rect r="r" b="b" t="t" l="l"/>
              <a:pathLst>
                <a:path h="16891" w="24400890">
                  <a:moveTo>
                    <a:pt x="0" y="0"/>
                  </a:moveTo>
                  <a:lnTo>
                    <a:pt x="24400890" y="16891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8098192" r="0" b="-28098417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279647" y="-6353"/>
            <a:ext cx="12697" cy="10299697"/>
            <a:chOff x="0" y="0"/>
            <a:chExt cx="16929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565647" y="-6353"/>
            <a:ext cx="12697" cy="10299697"/>
            <a:chOff x="0" y="0"/>
            <a:chExt cx="16929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51647" y="-6353"/>
            <a:ext cx="12697" cy="10299697"/>
            <a:chOff x="0" y="0"/>
            <a:chExt cx="16929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37647" y="-6353"/>
            <a:ext cx="12697" cy="10299697"/>
            <a:chOff x="0" y="0"/>
            <a:chExt cx="16929" cy="137329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3647" y="-6353"/>
            <a:ext cx="12697" cy="10299697"/>
            <a:chOff x="0" y="0"/>
            <a:chExt cx="16929" cy="137329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09647" y="-6353"/>
            <a:ext cx="12697" cy="10299697"/>
            <a:chOff x="0" y="0"/>
            <a:chExt cx="16929" cy="137329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995647" y="-6353"/>
            <a:ext cx="12697" cy="10299697"/>
            <a:chOff x="0" y="0"/>
            <a:chExt cx="16929" cy="13732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91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16891">
                  <a:moveTo>
                    <a:pt x="0" y="0"/>
                  </a:moveTo>
                  <a:lnTo>
                    <a:pt x="16891" y="1373289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104264835" t="0" r="-104265061" b="0"/>
              </a:stretch>
            </a:blipFill>
            <a:ln w="12700" cap="sq">
              <a:solidFill>
                <a:srgbClr val="0D2240"/>
              </a:solidFill>
              <a:prstDash val="dash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01703" y="590807"/>
            <a:ext cx="135131" cy="1086107"/>
            <a:chOff x="0" y="0"/>
            <a:chExt cx="180175" cy="14481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213" cy="1448181"/>
            </a:xfrm>
            <a:custGeom>
              <a:avLst/>
              <a:gdLst/>
              <a:ahLst/>
              <a:cxnLst/>
              <a:rect r="r" b="b" t="t" l="l"/>
              <a:pathLst>
                <a:path h="1448181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80160" y="640080"/>
            <a:ext cx="16459200" cy="1097280"/>
            <a:chOff x="0" y="0"/>
            <a:chExt cx="2194560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Improvements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0555" y="2185035"/>
            <a:ext cx="5322570" cy="2945130"/>
            <a:chOff x="0" y="0"/>
            <a:chExt cx="7096760" cy="3926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967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627383" y="2181863"/>
            <a:ext cx="135131" cy="2951483"/>
            <a:chOff x="0" y="0"/>
            <a:chExt cx="180175" cy="39353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213" cy="3935349"/>
            </a:xfrm>
            <a:custGeom>
              <a:avLst/>
              <a:gdLst/>
              <a:ahLst/>
              <a:cxnLst/>
              <a:rect r="r" b="b" t="t" l="l"/>
              <a:pathLst>
                <a:path h="393534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86790" y="2541270"/>
            <a:ext cx="915924" cy="915924"/>
            <a:chOff x="0" y="0"/>
            <a:chExt cx="1221232" cy="12212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21232" cy="1221232"/>
            </a:xfrm>
            <a:custGeom>
              <a:avLst/>
              <a:gdLst/>
              <a:ahLst/>
              <a:cxnLst/>
              <a:rect r="r" b="b" t="t" l="l"/>
              <a:pathLst>
                <a:path h="1221232" w="1221232">
                  <a:moveTo>
                    <a:pt x="0" y="610616"/>
                  </a:moveTo>
                  <a:cubicBezTo>
                    <a:pt x="0" y="273431"/>
                    <a:pt x="273431" y="0"/>
                    <a:pt x="610616" y="0"/>
                  </a:cubicBezTo>
                  <a:cubicBezTo>
                    <a:pt x="947801" y="0"/>
                    <a:pt x="1221232" y="273431"/>
                    <a:pt x="1221232" y="610616"/>
                  </a:cubicBezTo>
                  <a:cubicBezTo>
                    <a:pt x="1221232" y="947801"/>
                    <a:pt x="947801" y="1221232"/>
                    <a:pt x="610616" y="1221232"/>
                  </a:cubicBezTo>
                  <a:cubicBezTo>
                    <a:pt x="273431" y="1221232"/>
                    <a:pt x="0" y="947801"/>
                    <a:pt x="0" y="610616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05840" y="2560320"/>
            <a:ext cx="877824" cy="877824"/>
            <a:chOff x="0" y="0"/>
            <a:chExt cx="1170432" cy="11704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39696" y="2560320"/>
            <a:ext cx="3657600" cy="640080"/>
            <a:chOff x="0" y="0"/>
            <a:chExt cx="487680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Hybrid Retrieval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3566160"/>
            <a:ext cx="4846320" cy="1316736"/>
            <a:chOff x="0" y="0"/>
            <a:chExt cx="6461760" cy="17556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61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5" r="0" b="-217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4617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 semantic + lexical search for better accuracy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299835" y="2185035"/>
            <a:ext cx="5322570" cy="2945130"/>
            <a:chOff x="0" y="0"/>
            <a:chExt cx="7096760" cy="3926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967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296663" y="2181863"/>
            <a:ext cx="135131" cy="2951483"/>
            <a:chOff x="0" y="0"/>
            <a:chExt cx="180175" cy="39353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213" cy="3935349"/>
            </a:xfrm>
            <a:custGeom>
              <a:avLst/>
              <a:gdLst/>
              <a:ahLst/>
              <a:cxnLst/>
              <a:rect r="r" b="b" t="t" l="l"/>
              <a:pathLst>
                <a:path h="393534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A855F7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656070" y="2541270"/>
            <a:ext cx="915924" cy="915924"/>
            <a:chOff x="0" y="0"/>
            <a:chExt cx="1221232" cy="12212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21232" cy="1221232"/>
            </a:xfrm>
            <a:custGeom>
              <a:avLst/>
              <a:gdLst/>
              <a:ahLst/>
              <a:cxnLst/>
              <a:rect r="r" b="b" t="t" l="l"/>
              <a:pathLst>
                <a:path h="1221232" w="1221232">
                  <a:moveTo>
                    <a:pt x="0" y="610616"/>
                  </a:moveTo>
                  <a:cubicBezTo>
                    <a:pt x="0" y="273431"/>
                    <a:pt x="273431" y="0"/>
                    <a:pt x="610616" y="0"/>
                  </a:cubicBezTo>
                  <a:cubicBezTo>
                    <a:pt x="947801" y="0"/>
                    <a:pt x="1221232" y="273431"/>
                    <a:pt x="1221232" y="610616"/>
                  </a:cubicBezTo>
                  <a:cubicBezTo>
                    <a:pt x="1221232" y="947801"/>
                    <a:pt x="947801" y="1221232"/>
                    <a:pt x="610616" y="1221232"/>
                  </a:cubicBezTo>
                  <a:cubicBezTo>
                    <a:pt x="273431" y="1221232"/>
                    <a:pt x="0" y="947801"/>
                    <a:pt x="0" y="610616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A855F7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675120" y="2560320"/>
            <a:ext cx="877824" cy="877824"/>
            <a:chOff x="0" y="0"/>
            <a:chExt cx="1170432" cy="11704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A855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808976" y="2560320"/>
            <a:ext cx="3657600" cy="640080"/>
            <a:chOff x="0" y="0"/>
            <a:chExt cx="487680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Caching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583680" y="3566160"/>
            <a:ext cx="4846320" cy="1316736"/>
            <a:chOff x="0" y="0"/>
            <a:chExt cx="6461760" cy="17556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61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5" r="0" b="-2171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4617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Smarter caching layer to reduce response latency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969115" y="2185035"/>
            <a:ext cx="5322570" cy="2945130"/>
            <a:chOff x="0" y="0"/>
            <a:chExt cx="7096760" cy="3926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967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965943" y="2181863"/>
            <a:ext cx="135131" cy="2951483"/>
            <a:chOff x="0" y="0"/>
            <a:chExt cx="180175" cy="39353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80213" cy="3935349"/>
            </a:xfrm>
            <a:custGeom>
              <a:avLst/>
              <a:gdLst/>
              <a:ahLst/>
              <a:cxnLst/>
              <a:rect r="r" b="b" t="t" l="l"/>
              <a:pathLst>
                <a:path h="393534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325350" y="2541270"/>
            <a:ext cx="915924" cy="915924"/>
            <a:chOff x="0" y="0"/>
            <a:chExt cx="1221232" cy="12212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21232" cy="1221232"/>
            </a:xfrm>
            <a:custGeom>
              <a:avLst/>
              <a:gdLst/>
              <a:ahLst/>
              <a:cxnLst/>
              <a:rect r="r" b="b" t="t" l="l"/>
              <a:pathLst>
                <a:path h="1221232" w="1221232">
                  <a:moveTo>
                    <a:pt x="0" y="610616"/>
                  </a:moveTo>
                  <a:cubicBezTo>
                    <a:pt x="0" y="273431"/>
                    <a:pt x="273431" y="0"/>
                    <a:pt x="610616" y="0"/>
                  </a:cubicBezTo>
                  <a:cubicBezTo>
                    <a:pt x="947801" y="0"/>
                    <a:pt x="1221232" y="273431"/>
                    <a:pt x="1221232" y="610616"/>
                  </a:cubicBezTo>
                  <a:cubicBezTo>
                    <a:pt x="1221232" y="947801"/>
                    <a:pt x="947801" y="1221232"/>
                    <a:pt x="610616" y="1221232"/>
                  </a:cubicBezTo>
                  <a:cubicBezTo>
                    <a:pt x="273431" y="1221232"/>
                    <a:pt x="0" y="947801"/>
                    <a:pt x="0" y="610616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344400" y="2560320"/>
            <a:ext cx="877824" cy="877824"/>
            <a:chOff x="0" y="0"/>
            <a:chExt cx="1170432" cy="11704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0FF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478256" y="2560320"/>
            <a:ext cx="3657600" cy="640080"/>
            <a:chOff x="0" y="0"/>
            <a:chExt cx="4876800" cy="853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Streaming Responses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252960" y="3566160"/>
            <a:ext cx="4846320" cy="1316736"/>
            <a:chOff x="0" y="0"/>
            <a:chExt cx="6461760" cy="17556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61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5" r="0" b="-2171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4617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Token-level streaming for real-time AI output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30555" y="5476875"/>
            <a:ext cx="5322570" cy="2945130"/>
            <a:chOff x="0" y="0"/>
            <a:chExt cx="7096760" cy="3926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0967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27383" y="5473703"/>
            <a:ext cx="135131" cy="2951483"/>
            <a:chOff x="0" y="0"/>
            <a:chExt cx="180175" cy="39353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0213" cy="3935349"/>
            </a:xfrm>
            <a:custGeom>
              <a:avLst/>
              <a:gdLst/>
              <a:ahLst/>
              <a:cxnLst/>
              <a:rect r="r" b="b" t="t" l="l"/>
              <a:pathLst>
                <a:path h="393534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ACC15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986790" y="5833110"/>
            <a:ext cx="915924" cy="915924"/>
            <a:chOff x="0" y="0"/>
            <a:chExt cx="1221232" cy="12212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21232" cy="1221232"/>
            </a:xfrm>
            <a:custGeom>
              <a:avLst/>
              <a:gdLst/>
              <a:ahLst/>
              <a:cxnLst/>
              <a:rect r="r" b="b" t="t" l="l"/>
              <a:pathLst>
                <a:path h="1221232" w="1221232">
                  <a:moveTo>
                    <a:pt x="0" y="610616"/>
                  </a:moveTo>
                  <a:cubicBezTo>
                    <a:pt x="0" y="273431"/>
                    <a:pt x="273431" y="0"/>
                    <a:pt x="610616" y="0"/>
                  </a:cubicBezTo>
                  <a:cubicBezTo>
                    <a:pt x="947801" y="0"/>
                    <a:pt x="1221232" y="273431"/>
                    <a:pt x="1221232" y="610616"/>
                  </a:cubicBezTo>
                  <a:cubicBezTo>
                    <a:pt x="1221232" y="947801"/>
                    <a:pt x="947801" y="1221232"/>
                    <a:pt x="610616" y="1221232"/>
                  </a:cubicBezTo>
                  <a:cubicBezTo>
                    <a:pt x="273431" y="1221232"/>
                    <a:pt x="0" y="947801"/>
                    <a:pt x="0" y="610616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005840" y="5852160"/>
            <a:ext cx="877824" cy="877824"/>
            <a:chOff x="0" y="0"/>
            <a:chExt cx="1170432" cy="117043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CC1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139696" y="5852160"/>
            <a:ext cx="3657600" cy="640080"/>
            <a:chOff x="0" y="0"/>
            <a:chExt cx="487680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 Input Support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14400" y="6858000"/>
            <a:ext cx="4846320" cy="1316736"/>
            <a:chOff x="0" y="0"/>
            <a:chExt cx="6461760" cy="17556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461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5" r="0" b="-2171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4617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Speech-to-text interface for voice queries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299835" y="5476875"/>
            <a:ext cx="5322570" cy="2945130"/>
            <a:chOff x="0" y="0"/>
            <a:chExt cx="7096760" cy="39268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0967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6296663" y="5473703"/>
            <a:ext cx="135131" cy="2951483"/>
            <a:chOff x="0" y="0"/>
            <a:chExt cx="180175" cy="393531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0213" cy="3935349"/>
            </a:xfrm>
            <a:custGeom>
              <a:avLst/>
              <a:gdLst/>
              <a:ahLst/>
              <a:cxnLst/>
              <a:rect r="r" b="b" t="t" l="l"/>
              <a:pathLst>
                <a:path h="393534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F97316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6656070" y="5833110"/>
            <a:ext cx="915924" cy="915924"/>
            <a:chOff x="0" y="0"/>
            <a:chExt cx="1221232" cy="122123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21232" cy="1221232"/>
            </a:xfrm>
            <a:custGeom>
              <a:avLst/>
              <a:gdLst/>
              <a:ahLst/>
              <a:cxnLst/>
              <a:rect r="r" b="b" t="t" l="l"/>
              <a:pathLst>
                <a:path h="1221232" w="1221232">
                  <a:moveTo>
                    <a:pt x="0" y="610616"/>
                  </a:moveTo>
                  <a:cubicBezTo>
                    <a:pt x="0" y="273431"/>
                    <a:pt x="273431" y="0"/>
                    <a:pt x="610616" y="0"/>
                  </a:cubicBezTo>
                  <a:cubicBezTo>
                    <a:pt x="947801" y="0"/>
                    <a:pt x="1221232" y="273431"/>
                    <a:pt x="1221232" y="610616"/>
                  </a:cubicBezTo>
                  <a:cubicBezTo>
                    <a:pt x="1221232" y="947801"/>
                    <a:pt x="947801" y="1221232"/>
                    <a:pt x="610616" y="1221232"/>
                  </a:cubicBezTo>
                  <a:cubicBezTo>
                    <a:pt x="273431" y="1221232"/>
                    <a:pt x="0" y="947801"/>
                    <a:pt x="0" y="610616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6675120" y="5852160"/>
            <a:ext cx="877824" cy="877824"/>
            <a:chOff x="0" y="0"/>
            <a:chExt cx="1170432" cy="117043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808976" y="5852160"/>
            <a:ext cx="3657600" cy="640080"/>
            <a:chOff x="0" y="0"/>
            <a:chExt cx="4876800" cy="8534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Deployment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583680" y="6858000"/>
            <a:ext cx="4846320" cy="1316736"/>
            <a:chOff x="0" y="0"/>
            <a:chExt cx="6461760" cy="17556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461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5" r="0" b="-2171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4617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 on AWS / GCP with auto-scaling support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969115" y="5476875"/>
            <a:ext cx="5322570" cy="2945130"/>
            <a:chOff x="0" y="0"/>
            <a:chExt cx="7096760" cy="39268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096760" cy="3926840"/>
            </a:xfrm>
            <a:custGeom>
              <a:avLst/>
              <a:gdLst/>
              <a:ahLst/>
              <a:cxnLst/>
              <a:rect r="r" b="b" t="t" l="l"/>
              <a:pathLst>
                <a:path h="392684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3926840"/>
                  </a:lnTo>
                  <a:lnTo>
                    <a:pt x="0" y="3926840"/>
                  </a:lnTo>
                  <a:close/>
                </a:path>
              </a:pathLst>
            </a:custGeom>
            <a:solidFill>
              <a:srgbClr val="0D1F3C"/>
            </a:solidFill>
            <a:ln w="19050" cap="sq">
              <a:solidFill>
                <a:srgbClr val="1E3F6B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965943" y="5473703"/>
            <a:ext cx="135131" cy="2951483"/>
            <a:chOff x="0" y="0"/>
            <a:chExt cx="180175" cy="393531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80213" cy="3935349"/>
            </a:xfrm>
            <a:custGeom>
              <a:avLst/>
              <a:gdLst/>
              <a:ahLst/>
              <a:cxnLst/>
              <a:rect r="r" b="b" t="t" l="l"/>
              <a:pathLst>
                <a:path h="393534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3935349"/>
                  </a:lnTo>
                  <a:lnTo>
                    <a:pt x="0" y="3935349"/>
                  </a:lnTo>
                  <a:close/>
                </a:path>
              </a:pathLst>
            </a:custGeom>
            <a:solidFill>
              <a:srgbClr val="EF4444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25350" y="5833110"/>
            <a:ext cx="915924" cy="915924"/>
            <a:chOff x="0" y="0"/>
            <a:chExt cx="1221232" cy="122123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221232" cy="1221232"/>
            </a:xfrm>
            <a:custGeom>
              <a:avLst/>
              <a:gdLst/>
              <a:ahLst/>
              <a:cxnLst/>
              <a:rect r="r" b="b" t="t" l="l"/>
              <a:pathLst>
                <a:path h="1221232" w="1221232">
                  <a:moveTo>
                    <a:pt x="0" y="610616"/>
                  </a:moveTo>
                  <a:cubicBezTo>
                    <a:pt x="0" y="273431"/>
                    <a:pt x="273431" y="0"/>
                    <a:pt x="610616" y="0"/>
                  </a:cubicBezTo>
                  <a:cubicBezTo>
                    <a:pt x="947801" y="0"/>
                    <a:pt x="1221232" y="273431"/>
                    <a:pt x="1221232" y="610616"/>
                  </a:cubicBezTo>
                  <a:cubicBezTo>
                    <a:pt x="1221232" y="947801"/>
                    <a:pt x="947801" y="1221232"/>
                    <a:pt x="610616" y="1221232"/>
                  </a:cubicBezTo>
                  <a:cubicBezTo>
                    <a:pt x="273431" y="1221232"/>
                    <a:pt x="0" y="947801"/>
                    <a:pt x="0" y="610616"/>
                  </a:cubicBezTo>
                  <a:close/>
                </a:path>
              </a:pathLst>
            </a:custGeom>
            <a:solidFill>
              <a:srgbClr val="0A1628"/>
            </a:solidFill>
            <a:ln w="3810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2344400" y="5852160"/>
            <a:ext cx="877824" cy="877824"/>
            <a:chOff x="0" y="0"/>
            <a:chExt cx="1170432" cy="117043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1170432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3478256" y="5852160"/>
            <a:ext cx="3657600" cy="640080"/>
            <a:chOff x="0" y="0"/>
            <a:chExt cx="4876800" cy="8534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4876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Reranking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252960" y="6858000"/>
            <a:ext cx="4846320" cy="1316736"/>
            <a:chOff x="0" y="0"/>
            <a:chExt cx="6461760" cy="17556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4617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5" r="0" b="-21715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4617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0C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Cross-encoder reranking for more precise results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3063" y="353063"/>
            <a:ext cx="244859" cy="244859"/>
            <a:chOff x="0" y="0"/>
            <a:chExt cx="326479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7543783" y="353063"/>
            <a:ext cx="244859" cy="244859"/>
            <a:chOff x="0" y="0"/>
            <a:chExt cx="326479" cy="3264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53063" y="9497063"/>
            <a:ext cx="244859" cy="244859"/>
            <a:chOff x="0" y="0"/>
            <a:chExt cx="326479" cy="3264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543783" y="9497063"/>
            <a:ext cx="244859" cy="244859"/>
            <a:chOff x="0" y="0"/>
            <a:chExt cx="326479" cy="32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6517" cy="326517"/>
            </a:xfrm>
            <a:custGeom>
              <a:avLst/>
              <a:gdLst/>
              <a:ahLst/>
              <a:cxnLst/>
              <a:rect r="r" b="b" t="t" l="l"/>
              <a:pathLst>
                <a:path h="326517" w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0FF88"/>
            </a:solidFill>
            <a:ln w="25400" cap="sq">
              <a:solidFill>
                <a:srgbClr val="33333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-9525" y="2047875"/>
            <a:ext cx="18307050" cy="19050"/>
            <a:chOff x="0" y="0"/>
            <a:chExt cx="24409400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-9525" y="4105275"/>
            <a:ext cx="18307050" cy="19050"/>
            <a:chOff x="0" y="0"/>
            <a:chExt cx="244094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-9525" y="6162675"/>
            <a:ext cx="18307050" cy="19050"/>
            <a:chOff x="0" y="0"/>
            <a:chExt cx="244094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-9525" y="8220075"/>
            <a:ext cx="18307050" cy="19050"/>
            <a:chOff x="0" y="0"/>
            <a:chExt cx="244094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409400" cy="25400"/>
            </a:xfrm>
            <a:custGeom>
              <a:avLst/>
              <a:gdLst/>
              <a:ahLst/>
              <a:cxnLst/>
              <a:rect r="r" b="b" t="t" l="l"/>
              <a:pathLst>
                <a:path h="25400" w="24409400">
                  <a:moveTo>
                    <a:pt x="0" y="0"/>
                  </a:moveTo>
                  <a:lnTo>
                    <a:pt x="24409400" y="25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8675121" r="0" b="-18675121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276475" y="-9525"/>
            <a:ext cx="19050" cy="10306050"/>
            <a:chOff x="0" y="0"/>
            <a:chExt cx="25400" cy="1374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562475" y="-9525"/>
            <a:ext cx="19050" cy="10306050"/>
            <a:chOff x="0" y="0"/>
            <a:chExt cx="25400" cy="13741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48475" y="-9525"/>
            <a:ext cx="19050" cy="10306050"/>
            <a:chOff x="0" y="0"/>
            <a:chExt cx="25400" cy="13741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34475" y="-9525"/>
            <a:ext cx="19050" cy="10306050"/>
            <a:chOff x="0" y="0"/>
            <a:chExt cx="25400" cy="13741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420475" y="-9525"/>
            <a:ext cx="19050" cy="10306050"/>
            <a:chOff x="0" y="0"/>
            <a:chExt cx="25400" cy="13741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706475" y="-9525"/>
            <a:ext cx="19050" cy="10306050"/>
            <a:chOff x="0" y="0"/>
            <a:chExt cx="25400" cy="13741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992475" y="-9525"/>
            <a:ext cx="19050" cy="10306050"/>
            <a:chOff x="0" y="0"/>
            <a:chExt cx="25400" cy="13741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5400">
                  <a:moveTo>
                    <a:pt x="0" y="0"/>
                  </a:moveTo>
                  <a:lnTo>
                    <a:pt x="25400" y="137414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69362232" t="0" r="-69362232" b="0"/>
              </a:stretch>
            </a:blipFill>
            <a:ln w="19050" cap="sq">
              <a:solidFill>
                <a:srgbClr val="0A1E3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75963" y="2485448"/>
            <a:ext cx="15517025" cy="4006792"/>
            <a:chOff x="0" y="0"/>
            <a:chExt cx="3926840" cy="10139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26840" cy="1013985"/>
            </a:xfrm>
            <a:custGeom>
              <a:avLst/>
              <a:gdLst/>
              <a:ahLst/>
              <a:cxnLst/>
              <a:rect r="r" b="b" t="t" l="l"/>
              <a:pathLst>
                <a:path h="1013985" w="3926840">
                  <a:moveTo>
                    <a:pt x="0" y="213456"/>
                  </a:moveTo>
                  <a:cubicBezTo>
                    <a:pt x="0" y="95636"/>
                    <a:pt x="89789" y="0"/>
                    <a:pt x="200406" y="0"/>
                  </a:cubicBezTo>
                  <a:lnTo>
                    <a:pt x="3726434" y="0"/>
                  </a:lnTo>
                  <a:cubicBezTo>
                    <a:pt x="3837178" y="0"/>
                    <a:pt x="3926840" y="95636"/>
                    <a:pt x="3926840" y="213456"/>
                  </a:cubicBezTo>
                  <a:lnTo>
                    <a:pt x="3926840" y="800529"/>
                  </a:lnTo>
                  <a:cubicBezTo>
                    <a:pt x="3926840" y="918484"/>
                    <a:pt x="3837051" y="1013985"/>
                    <a:pt x="3726434" y="1013985"/>
                  </a:cubicBezTo>
                  <a:lnTo>
                    <a:pt x="200406" y="1013985"/>
                  </a:lnTo>
                  <a:cubicBezTo>
                    <a:pt x="89789" y="1013985"/>
                    <a:pt x="0" y="918349"/>
                    <a:pt x="0" y="800529"/>
                  </a:cubicBezTo>
                  <a:close/>
                </a:path>
              </a:pathLst>
            </a:custGeom>
            <a:solidFill>
              <a:srgbClr val="0D2240"/>
            </a:solidFill>
            <a:ln w="19050" cap="sq">
              <a:solidFill>
                <a:srgbClr val="00FF8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908321" y="3447008"/>
            <a:ext cx="14490409" cy="2420392"/>
            <a:chOff x="0" y="0"/>
            <a:chExt cx="19320545" cy="32271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320545" cy="3227189"/>
            </a:xfrm>
            <a:custGeom>
              <a:avLst/>
              <a:gdLst/>
              <a:ahLst/>
              <a:cxnLst/>
              <a:rect r="r" b="b" t="t" l="l"/>
              <a:pathLst>
                <a:path h="3227189" w="19320545">
                  <a:moveTo>
                    <a:pt x="0" y="0"/>
                  </a:moveTo>
                  <a:lnTo>
                    <a:pt x="19320545" y="0"/>
                  </a:lnTo>
                  <a:lnTo>
                    <a:pt x="19320545" y="3227189"/>
                  </a:lnTo>
                  <a:lnTo>
                    <a:pt x="0" y="32271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167" r="-13586" b="-778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47650"/>
              <a:ext cx="19320545" cy="3474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b="true" sz="12000" spc="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381750" y="6473190"/>
            <a:ext cx="5524500" cy="38100"/>
            <a:chOff x="0" y="0"/>
            <a:chExt cx="7366000" cy="5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66000" cy="50800"/>
            </a:xfrm>
            <a:custGeom>
              <a:avLst/>
              <a:gdLst/>
              <a:ahLst/>
              <a:cxnLst/>
              <a:rect r="r" b="b" t="t" l="l"/>
              <a:pathLst>
                <a:path h="50800" w="7366000">
                  <a:moveTo>
                    <a:pt x="0" y="0"/>
                  </a:moveTo>
                  <a:lnTo>
                    <a:pt x="73660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775330" r="0" b="-2775330"/>
              </a:stretch>
            </a:blipFill>
            <a:ln w="38100" cap="sq">
              <a:solidFill>
                <a:srgbClr val="00FF88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DAHK7EJuBsg</dc:identifier>
  <dcterms:modified xsi:type="dcterms:W3CDTF">2011-08-01T06:04:30Z</dcterms:modified>
  <cp:revision>1</cp:revision>
  <dc:title>BY</dc:title>
</cp:coreProperties>
</file>